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aucedemo.com" TargetMode="External"/><Relationship Id="rId4" Type="http://schemas.openxmlformats.org/officeDocument/2006/relationships/hyperlink" Target="https://jsonplaceholder.typicode.com" TargetMode="External"/><Relationship Id="rId6" Type="http://schemas.openxmlformats.org/officeDocument/2006/relationships/hyperlink" Target="https://youtu.be/T68oJWTKoIA" TargetMode="External"/><Relationship Id="rId8" Type="http://schemas.openxmlformats.org/officeDocument/2006/relationships/hyperlink" Target="https://docs.cypress.io" TargetMode="External"/><Relationship Id="rId10" Type="http://schemas.openxmlformats.org/officeDocument/2006/relationships/hyperlink" Target="https://robotframework.org" TargetMode="External"/><Relationship Id="rId12" Type="http://schemas.openxmlformats.org/officeDocument/2006/relationships/hyperlink" Target="https://docs.github.com/actions" TargetMode="External"/><Relationship Id="rId14" Type="http://schemas.openxmlformats.org/officeDocument/2006/relationships/hyperlink" Target="https://bstqb.org.br" TargetMode="External"/><Relationship Id="rId1" Type="http://schemas.openxmlformats.org/officeDocument/2006/relationships/image" Target="../media/image-17-1.png"/><Relationship Id="rId3" Type="http://schemas.openxmlformats.org/officeDocument/2006/relationships/image" Target="../media/image-17-2.png"/><Relationship Id="rId5" Type="http://schemas.openxmlformats.org/officeDocument/2006/relationships/image" Target="../media/image-17-3.png"/><Relationship Id="rId7" Type="http://schemas.openxmlformats.org/officeDocument/2006/relationships/image" Target="../media/image-17-4.png"/><Relationship Id="rId9" Type="http://schemas.openxmlformats.org/officeDocument/2006/relationships/image" Target="../media/image-17-5.png"/><Relationship Id="rId11" Type="http://schemas.openxmlformats.org/officeDocument/2006/relationships/image" Target="../media/image-17-6.png"/><Relationship Id="rId13" Type="http://schemas.openxmlformats.org/officeDocument/2006/relationships/image" Target="../media/image-17-7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4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651760" cy="51435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502920"/>
            <a:ext cx="841248" cy="841248"/>
          </a:xfrm>
          <a:prstGeom prst="ellipse">
            <a:avLst/>
          </a:prstGeom>
          <a:solidFill>
            <a:srgbClr val="FBC02D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" y="722376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" y="17830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CCC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PRÁTICO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320040" y="20574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de QA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3063240" y="1325880"/>
            <a:ext cx="5577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Automação de Testes:</a:t>
            </a:r>
            <a:endParaRPr lang="en-US" sz="2700" dirty="0"/>
          </a:p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UI, API e CI/CD</a:t>
            </a:r>
            <a:endParaRPr lang="en-US" sz="2700" dirty="0"/>
          </a:p>
        </p:txBody>
      </p:sp>
      <p:sp>
        <p:nvSpPr>
          <p:cNvPr id="8" name="Shape 5"/>
          <p:cNvSpPr/>
          <p:nvPr/>
        </p:nvSpPr>
        <p:spPr>
          <a:xfrm>
            <a:off x="3090672" y="2606040"/>
            <a:ext cx="548640" cy="50292"/>
          </a:xfrm>
          <a:prstGeom prst="rect">
            <a:avLst/>
          </a:prstGeom>
          <a:solidFill>
            <a:srgbClr val="FBC02D"/>
          </a:solidFill>
          <a:ln/>
        </p:spPr>
      </p:sp>
      <p:sp>
        <p:nvSpPr>
          <p:cNvPr id="9" name="Text 6"/>
          <p:cNvSpPr/>
          <p:nvPr/>
        </p:nvSpPr>
        <p:spPr>
          <a:xfrm>
            <a:off x="3063240" y="2761488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E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Cypress · Robot Framework · Testes de API · GitHub Actions —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9E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cenários em BDD para testes manuais e gravação de evidências.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063240" y="4617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FD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Instrutor: Douglas Adriano Queiroz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24044"/>
            <a:ext cx="9144000" cy="219456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492404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DE5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Desafio Final de QA — Automação de Testes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458200" y="4924044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DDE5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F6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 FINAL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veremos nesta aula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02920" y="1280160"/>
            <a:ext cx="2606040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E3E0D5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04088" y="1444752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" y="1554480"/>
            <a:ext cx="237744" cy="23774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04088" y="20116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desafio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04088" y="228600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7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repositórios, 1 semana de prazo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291840" y="1280160"/>
            <a:ext cx="2606040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E3E0D5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493008" y="1444752"/>
            <a:ext cx="457200" cy="457200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2736" y="1554480"/>
            <a:ext cx="237744" cy="23774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493008" y="20116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 — Interface (UI)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3493008" y="228600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7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SauceDemo com Cypress e Robot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6080760" y="1280160"/>
            <a:ext cx="2606040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E3E0D5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281928" y="1444752"/>
            <a:ext cx="457200" cy="457200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656" y="1554480"/>
            <a:ext cx="237744" cy="23774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281928" y="20116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 — API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6281928" y="228600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7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JSONPlaceholder: GET e POST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502920" y="2971800"/>
            <a:ext cx="2606040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E3E0D5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04088" y="3136392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" y="3246120"/>
            <a:ext cx="237744" cy="23774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04088" y="37033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 — CI/CD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704088" y="397764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7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 no GitHub Actions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>
            <a:off x="3291840" y="2971800"/>
            <a:ext cx="2606040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E3E0D5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3493008" y="3136392"/>
            <a:ext cx="457200" cy="457200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02736" y="3246120"/>
            <a:ext cx="237744" cy="237744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3493008" y="37033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Cenários em BDD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3493008" y="397764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7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Gherkin para testes manuais</a:t>
            </a:r>
            <a:endParaRPr lang="en-US" sz="950" dirty="0"/>
          </a:p>
        </p:txBody>
      </p:sp>
      <p:sp>
        <p:nvSpPr>
          <p:cNvPr id="32" name="Shape 25"/>
          <p:cNvSpPr/>
          <p:nvPr/>
        </p:nvSpPr>
        <p:spPr>
          <a:xfrm>
            <a:off x="6080760" y="2971800"/>
            <a:ext cx="2606040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E3E0D5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6281928" y="3136392"/>
            <a:ext cx="457200" cy="457200"/>
          </a:xfrm>
          <a:prstGeom prst="ellipse">
            <a:avLst/>
          </a:prstGeom>
          <a:solidFill>
            <a:srgbClr val="6A1B9A"/>
          </a:solidFill>
          <a:ln/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1656" y="3246120"/>
            <a:ext cx="237744" cy="237744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6281928" y="37033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Gravação de evidências</a:t>
            </a:r>
            <a:endParaRPr lang="en-US" sz="1200" dirty="0"/>
          </a:p>
        </p:txBody>
      </p:sp>
      <p:sp>
        <p:nvSpPr>
          <p:cNvPr id="36" name="Text 28"/>
          <p:cNvSpPr/>
          <p:nvPr/>
        </p:nvSpPr>
        <p:spPr>
          <a:xfrm>
            <a:off x="6281928" y="397764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7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registrar suas execuções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24044"/>
            <a:ext cx="9144000" cy="219456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492404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DE5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Desafio Final de QA — Automação de Testes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458200" y="4924044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DDE5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F6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desafio em resumo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02920" y="1280160"/>
            <a:ext cx="4892040" cy="3429000"/>
          </a:xfrm>
          <a:prstGeom prst="roundRect">
            <a:avLst>
              <a:gd name="adj" fmla="val 1867"/>
            </a:avLst>
          </a:prstGeom>
          <a:solidFill>
            <a:srgbClr val="FFFFFF"/>
          </a:solidFill>
          <a:ln w="12700">
            <a:solidFill>
              <a:srgbClr val="E3E0D5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146304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Chegou a hora de mostrar tudo o que você aprendeu no curso: um desafio real de processo seletivo de QA.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31520" y="2057400"/>
            <a:ext cx="4480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0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Missão: </a:t>
            </a:r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3 projetos de testes automatizados, cada um em um repositório público no GitHub.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Prazo: </a:t>
            </a:r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semana a partir do recebimento do desafio.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Alvos: </a:t>
            </a:r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SauceDemo (e-commerce fictício, sem API) e JSONPlaceholder (API pública fake).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desta aula: </a:t>
            </a:r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cenários BDD para executar os testes manualmente e gravar as evidências antes de automatizar.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623560" y="1280160"/>
            <a:ext cx="3017520" cy="1920240"/>
          </a:xfrm>
          <a:prstGeom prst="roundRect">
            <a:avLst>
              <a:gd name="adj" fmla="val 3333"/>
            </a:avLst>
          </a:prstGeom>
          <a:solidFill>
            <a:srgbClr val="F1F8E9"/>
          </a:solidFill>
          <a:ln w="12700">
            <a:solidFill>
              <a:srgbClr val="E3E0D5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833872" y="1481328"/>
            <a:ext cx="420624" cy="420624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34822" y="1582278"/>
            <a:ext cx="218724" cy="21872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833872" y="20116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Pense como uma prova de direção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5833872" y="2395728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7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já fez as aulas teóricas (CTFL) e as práticas. Agora o examinador quer ver você dirigindo sozinho: planejar, testar, automatizar e provar que funciona.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623560" y="3401568"/>
            <a:ext cx="3017520" cy="1307592"/>
          </a:xfrm>
          <a:prstGeom prst="roundRect">
            <a:avLst>
              <a:gd name="adj" fmla="val 4895"/>
            </a:avLst>
          </a:prstGeom>
          <a:solidFill>
            <a:srgbClr val="FFF8E1"/>
          </a:solidFill>
          <a:ln w="12700">
            <a:solidFill>
              <a:srgbClr val="E3E0D5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806440" y="3863340"/>
            <a:ext cx="384048" cy="384048"/>
          </a:xfrm>
          <a:prstGeom prst="ellipse">
            <a:avLst/>
          </a:prstGeom>
          <a:solidFill>
            <a:srgbClr val="FBC02D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8612" y="3955512"/>
            <a:ext cx="199705" cy="199705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336792" y="3474720"/>
            <a:ext cx="2121408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D6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050" dirty="0">
                <a:solidFill>
                  <a:srgbClr val="5D4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Leia o desafio inteiro antes de codar. Entender o que será avaliado é o primeiro teste.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24044"/>
            <a:ext cx="9144000" cy="219456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492404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DE5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Desafio Final de QA — Automação de Testes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458200" y="4924044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DDE5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F6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de Interface no SauceDemo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02920" y="1280160"/>
            <a:ext cx="4297680" cy="3429000"/>
          </a:xfrm>
          <a:prstGeom prst="roundRect">
            <a:avLst>
              <a:gd name="adj" fmla="val 1867"/>
            </a:avLst>
          </a:prstGeom>
          <a:solidFill>
            <a:srgbClr val="FFFFFF"/>
          </a:solidFill>
          <a:ln w="12700">
            <a:solidFill>
              <a:srgbClr val="E3E0D5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13232" y="1481328"/>
            <a:ext cx="420624" cy="420624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182" y="1582278"/>
            <a:ext cx="218724" cy="21872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61872" y="153619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fluxos, duas ferramentas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13232" y="2057400"/>
            <a:ext cx="38862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0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1 — Login: </a:t>
            </a:r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entrar no sistema com usuário e senha válidos (e cenários de erro).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2 — Checkout: </a:t>
            </a:r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adicionar produto ao carrinho e concluir a compra até o “Thank you for your order!”.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Cypress: </a:t>
            </a:r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dois fluxos automatizados em JavaScript.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Framework: </a:t>
            </a:r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mesmos fluxos, escritos no formato BDD (é isso que será avaliado!).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074920" y="1280160"/>
            <a:ext cx="3566160" cy="2148840"/>
          </a:xfrm>
          <a:prstGeom prst="roundRect">
            <a:avLst>
              <a:gd name="adj" fmla="val 2979"/>
            </a:avLst>
          </a:prstGeom>
          <a:solidFill>
            <a:srgbClr val="10331A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276088" y="1408176"/>
            <a:ext cx="3163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FBC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AO SAUCEDEMO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5276088" y="1664208"/>
            <a:ext cx="3200400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URL:    https://www.saucedemo.com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Usuário: standard_user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Senha:   secret_sauce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Outros usuários para explorar: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locked_out_user, problem_user,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performance_glitch_user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074920" y="3630168"/>
            <a:ext cx="3566160" cy="1078992"/>
          </a:xfrm>
          <a:prstGeom prst="roundRect">
            <a:avLst>
              <a:gd name="adj" fmla="val 5932"/>
            </a:avLst>
          </a:prstGeom>
          <a:solidFill>
            <a:srgbClr val="F1F8E9"/>
          </a:solidFill>
          <a:ln w="12700">
            <a:solidFill>
              <a:srgbClr val="E3E0D5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257800" y="3886200"/>
            <a:ext cx="384048" cy="384048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972" y="3978372"/>
            <a:ext cx="199705" cy="199705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779008" y="3721608"/>
            <a:ext cx="2743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Vídeo de referência do fluxo: </a:t>
            </a:r>
            <a:pPr indent="0" marL="0">
              <a:buNone/>
            </a:pPr>
            <a:r>
              <a:rPr lang="en-US" sz="950" dirty="0">
                <a:solidFill>
                  <a:srgbClr val="607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youtu.be/T68oJWTKoIA — assista antes de escrever os cenários.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24044"/>
            <a:ext cx="9144000" cy="219456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492404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DE5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Desafio Final de QA — Automação de Testes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458200" y="4924044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DDE5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F6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BDD e Gherkin: testes que contam histórias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02920" y="1280160"/>
            <a:ext cx="4160520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12700">
            <a:solidFill>
              <a:srgbClr val="E3E0D5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1444752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BDD (Behavior-Driven Development) descreve o comportamento do sistema em linguagem que todo mundo entende — como uma receita de bolo: qualquer pessoa consegue seguir os passos e conferir o resultado.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2395728"/>
            <a:ext cx="3703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0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 </a:t>
            </a:r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 contexto: onde a história começa.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</a:t>
            </a:r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 ação: o que o usuário faz.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Então </a:t>
            </a:r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 resultado esperado: o que deve acontecer.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92040" y="1280160"/>
            <a:ext cx="3749040" cy="2286000"/>
          </a:xfrm>
          <a:prstGeom prst="roundRect">
            <a:avLst>
              <a:gd name="adj" fmla="val 2800"/>
            </a:avLst>
          </a:prstGeom>
          <a:solidFill>
            <a:srgbClr val="10331A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93208" y="1408176"/>
            <a:ext cx="3346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CCC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ANATOMIA DE UM CENÁRIO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093208" y="1664208"/>
            <a:ext cx="3383280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FBC0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Funcionalidade: o que estamos testando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FBC0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Cenário: a situação específica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9CCC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Dado 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um contexto inicial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9CCC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Quando 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usuário faz uma ação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9CCC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E 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faz outra ação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9CCC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Então 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resultado esperado acontece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3767328"/>
            <a:ext cx="8138160" cy="941832"/>
          </a:xfrm>
          <a:prstGeom prst="roundRect">
            <a:avLst>
              <a:gd name="adj" fmla="val 6796"/>
            </a:avLst>
          </a:prstGeom>
          <a:solidFill>
            <a:srgbClr val="FFF8E1"/>
          </a:solidFill>
          <a:ln w="12700">
            <a:solidFill>
              <a:srgbClr val="E3E0D5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85800" y="4046220"/>
            <a:ext cx="384048" cy="384048"/>
          </a:xfrm>
          <a:prstGeom prst="ellipse">
            <a:avLst/>
          </a:prstGeom>
          <a:solidFill>
            <a:srgbClr val="FBC02D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972" y="4138392"/>
            <a:ext cx="199705" cy="199705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216152" y="3840480"/>
            <a:ext cx="724204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D6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050" dirty="0">
                <a:solidFill>
                  <a:srgbClr val="5D4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 BDD bom é aquele que um colega executa manualmente sem te perguntar nada. Escreva primeiro, automatize depois — o mesmo texto vira seu roteiro de teste manual, de gravação e de automação no Robot.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24044"/>
            <a:ext cx="9144000" cy="219456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492404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DE5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Desafio Final de QA — Automação de Testes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458200" y="4924044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DDE5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F6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CENÁRIOS BDD — TESTES MANUAIS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1: Login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02920" y="1280160"/>
            <a:ext cx="4206240" cy="3429000"/>
          </a:xfrm>
          <a:prstGeom prst="roundRect">
            <a:avLst>
              <a:gd name="adj" fmla="val 1867"/>
            </a:avLst>
          </a:prstGeom>
          <a:solidFill>
            <a:srgbClr val="10331A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04088" y="1408176"/>
            <a:ext cx="3803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CCC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 1 — CAMINHO FELIZ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04088" y="1664208"/>
            <a:ext cx="3840480" cy="2935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FBC0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Funcionalidade: Login no SauceDemo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FBC0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Cenário: Login com credenciais válidas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9CCC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Dado </a:t>
            </a:r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 estou na página de login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9CCC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Quando </a:t>
            </a:r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preencho o usuário "standard_user"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9CCC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E </a:t>
            </a:r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preencho a senha "secret_sauce"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9CCC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E </a:t>
            </a:r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clico no botão "Login"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9CCC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Então </a:t>
            </a:r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vejo a página de produtos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9CCC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E </a:t>
            </a:r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título "Products" está visível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892040" y="1280160"/>
            <a:ext cx="3749040" cy="1645920"/>
          </a:xfrm>
          <a:prstGeom prst="roundRect">
            <a:avLst>
              <a:gd name="adj" fmla="val 3889"/>
            </a:avLst>
          </a:prstGeom>
          <a:solidFill>
            <a:srgbClr val="10331A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93208" y="1408176"/>
            <a:ext cx="3346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CCC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 2 — SENHA INVÁLIDA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093208" y="1664208"/>
            <a:ext cx="338328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FBC0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Cenário: Login com senha errada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9CCC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Dado </a:t>
            </a:r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 estou na página de login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9CCC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Quando </a:t>
            </a:r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informo "standard_user"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9CCC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E </a:t>
            </a:r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senha "senha_errada"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9CCC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E </a:t>
            </a:r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clico em "Login"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9CCC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Então </a:t>
            </a:r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vejo o erro "Username and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password do not match..."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892040" y="3063240"/>
            <a:ext cx="3749040" cy="1645920"/>
          </a:xfrm>
          <a:prstGeom prst="roundRect">
            <a:avLst>
              <a:gd name="adj" fmla="val 3889"/>
            </a:avLst>
          </a:prstGeom>
          <a:solidFill>
            <a:srgbClr val="10331A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93208" y="3191256"/>
            <a:ext cx="3346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CCC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 3 — USUÁRIO BLOQUEADO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093208" y="3447288"/>
            <a:ext cx="338328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FBC0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Cenário: Usuário bloqueado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9CCC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Dado </a:t>
            </a:r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 estou na página de login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9CCC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Quando </a:t>
            </a:r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informo "locked_out_user"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9CCC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E </a:t>
            </a:r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senha "secret_sauce"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9CCC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E </a:t>
            </a:r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clico em "Login"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9CCC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Então </a:t>
            </a:r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vejo "Sorry, this user has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been locked out."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24044"/>
            <a:ext cx="9144000" cy="219456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492404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DE5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Desafio Final de QA — Automação de Testes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458200" y="4924044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DDE5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F6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CENÁRIOS BDD — TESTES MANUAIS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2: Checkout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02920" y="1280160"/>
            <a:ext cx="4480560" cy="3429000"/>
          </a:xfrm>
          <a:prstGeom prst="roundRect">
            <a:avLst>
              <a:gd name="adj" fmla="val 1867"/>
            </a:avLst>
          </a:prstGeom>
          <a:solidFill>
            <a:srgbClr val="10331A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04088" y="1408176"/>
            <a:ext cx="4078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CCC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 1 — COMPRA COMPLETA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04088" y="1664208"/>
            <a:ext cx="4114800" cy="2935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FBC0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Funcionalidade: Checkout no SauceDemo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FBC0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Cenário: Compra concluída com sucesso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9CCC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Dado 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 estou logado como "standard_user"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9CCC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E 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adicionei "Sauce Labs Backpack" ao carrinho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9CCC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Quando 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abro o carrinho e clico em "Checkout"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9CCC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E 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preencho nome "Douglas", sobrenome "QA"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9CCC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E 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CEP "88000-000"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9CCC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E 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clico em "Continue" e depois em "Finish"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9CCC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Então 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vejo "Thank you for your order!"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9CCC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E 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carrinho fica vazio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166360" y="1280160"/>
            <a:ext cx="3474720" cy="1965960"/>
          </a:xfrm>
          <a:prstGeom prst="roundRect">
            <a:avLst>
              <a:gd name="adj" fmla="val 3256"/>
            </a:avLst>
          </a:prstGeom>
          <a:solidFill>
            <a:srgbClr val="10331A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367528" y="1408176"/>
            <a:ext cx="3072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CCC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 2 — CAMPO OBRIGATÓRIO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367528" y="1664208"/>
            <a:ext cx="310896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FBC0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Cenário: Checkout sem o nome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9CCC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Dado </a:t>
            </a:r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 estou na etapa de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informações do checkout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9CCC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Quando </a:t>
            </a:r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clico em "Continue"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sem preencher o nome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9CCC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Então </a:t>
            </a:r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vejo o erro "Error: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First Name is required"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166360" y="3401568"/>
            <a:ext cx="3474720" cy="1307592"/>
          </a:xfrm>
          <a:prstGeom prst="roundRect">
            <a:avLst>
              <a:gd name="adj" fmla="val 4895"/>
            </a:avLst>
          </a:prstGeom>
          <a:solidFill>
            <a:srgbClr val="FFF8E1"/>
          </a:solidFill>
          <a:ln w="12700">
            <a:solidFill>
              <a:srgbClr val="E3E0D5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349240" y="3863340"/>
            <a:ext cx="384048" cy="384048"/>
          </a:xfrm>
          <a:prstGeom prst="ellipse">
            <a:avLst/>
          </a:prstGeom>
          <a:solidFill>
            <a:srgbClr val="FBC02D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1412" y="3955512"/>
            <a:ext cx="199705" cy="199705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5879592" y="3474720"/>
            <a:ext cx="2578608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D6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050" dirty="0">
                <a:solidFill>
                  <a:srgbClr val="5D4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 sempre o resultado final (mensagem, URL, carrinho vazio) — clicar sem conferir não é testar.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24044"/>
            <a:ext cx="9144000" cy="219456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492404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DE5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Desafio Final de QA — Automação de Testes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458200" y="4924044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DDE5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F6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de API no JSONPlaceholder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02920" y="1280160"/>
            <a:ext cx="3977640" cy="2148840"/>
          </a:xfrm>
          <a:prstGeom prst="roundRect">
            <a:avLst>
              <a:gd name="adj" fmla="val 2979"/>
            </a:avLst>
          </a:prstGeom>
          <a:solidFill>
            <a:srgbClr val="10331A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04088" y="1408176"/>
            <a:ext cx="3575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FBC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— CONSULTAR COMENTÁRIOS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04088" y="1664208"/>
            <a:ext cx="3611880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https://jsonplaceholder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.typicode.com/comments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Validar: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9CCC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Então </a:t>
            </a:r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 code 200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9CCC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E </a:t>
            </a:r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lista de comentários no corpo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9CCC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E </a:t>
            </a:r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campos postId, id, name,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email e body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1280160"/>
            <a:ext cx="3977640" cy="2148840"/>
          </a:xfrm>
          <a:prstGeom prst="roundRect">
            <a:avLst>
              <a:gd name="adj" fmla="val 2979"/>
            </a:avLst>
          </a:prstGeom>
          <a:solidFill>
            <a:srgbClr val="10331A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64608" y="1408176"/>
            <a:ext cx="3575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FBC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— CRIAR ÁLBUM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864608" y="1664208"/>
            <a:ext cx="3611880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https://jsonplaceholder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.typicode.com/albums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Body: { "userId": 1,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"title": "Meu álbum de testes" }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Validar: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9CCC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Então </a:t>
            </a:r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 code 201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9CCC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E </a:t>
            </a:r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resposta com "id" e o "title"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2920" y="3611880"/>
            <a:ext cx="8138160" cy="1097280"/>
          </a:xfrm>
          <a:prstGeom prst="roundRect">
            <a:avLst>
              <a:gd name="adj" fmla="val 5833"/>
            </a:avLst>
          </a:prstGeom>
          <a:solidFill>
            <a:srgbClr val="F1F8E9"/>
          </a:solidFill>
          <a:ln w="12700">
            <a:solidFill>
              <a:srgbClr val="E3E0D5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13232" y="3877056"/>
            <a:ext cx="420624" cy="420624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182" y="3978006"/>
            <a:ext cx="218724" cy="218724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261872" y="3703320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Lembra da analogia da casa? </a:t>
            </a:r>
            <a:pPr indent="0" marL="0">
              <a:buNone/>
            </a:pPr>
            <a:r>
              <a:rPr lang="en-US" sz="1050" dirty="0">
                <a:solidFill>
                  <a:srgbClr val="607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API é a casa, cada endpoint é uma porta e o token é a chave. No JSONPlaceholder as portas estão destrancadas (sem autenticação) — perfeito para treinar. A tecnologia é livre: Postman/Newman, RestAssured, Supertest…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24044"/>
            <a:ext cx="9144000" cy="219456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492404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DE5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Desafio Final de QA — Automação de Testes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458200" y="4924044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DDE5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F6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CENÁRIOS BDD — TESTES MANUAIS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API: GET e POST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02920" y="1280160"/>
            <a:ext cx="4023360" cy="2788920"/>
          </a:xfrm>
          <a:prstGeom prst="roundRect">
            <a:avLst>
              <a:gd name="adj" fmla="val 2295"/>
            </a:avLst>
          </a:prstGeom>
          <a:solidFill>
            <a:srgbClr val="10331A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04088" y="1408176"/>
            <a:ext cx="3621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CCC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 — GET /COMMENTS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04088" y="1664208"/>
            <a:ext cx="3657600" cy="2295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FBC0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Funcionalidade: Consulta de comentários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FBC0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Cenário: Buscar comentários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9CCC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Dado </a:t>
            </a:r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 a API está disponível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9CCC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Quando </a:t>
            </a:r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envio GET para "/comments"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9CCC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Então </a:t>
            </a:r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status code é 200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9CCC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E </a:t>
            </a:r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corpo tem uma lista de comentários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9CCC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E </a:t>
            </a:r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cada item tem postId, id, name,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email e body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617720" y="1280160"/>
            <a:ext cx="4023360" cy="2788920"/>
          </a:xfrm>
          <a:prstGeom prst="roundRect">
            <a:avLst>
              <a:gd name="adj" fmla="val 2295"/>
            </a:avLst>
          </a:prstGeom>
          <a:solidFill>
            <a:srgbClr val="10331A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18888" y="1408176"/>
            <a:ext cx="3621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CCC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 — POST /ALBUMS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818888" y="1664208"/>
            <a:ext cx="3657600" cy="2295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FBC0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Funcionalidade: Criação de álbuns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FBC0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Cenário: Criar um novo álbum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9CCC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Dado </a:t>
            </a:r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 a API está disponível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9CCC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Quando </a:t>
            </a:r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envio POST para "/albums"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9CCC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E </a:t>
            </a:r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body { "userId": 1, "title":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"Meu álbum de testes" }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9CCC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Então </a:t>
            </a:r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status code é 201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9CCC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E </a:t>
            </a:r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resposta contém o novo "id"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9CCC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E </a:t>
            </a:r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"title" enviado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02920" y="4187952"/>
            <a:ext cx="8138160" cy="566928"/>
          </a:xfrm>
          <a:prstGeom prst="roundRect">
            <a:avLst>
              <a:gd name="adj" fmla="val 11290"/>
            </a:avLst>
          </a:prstGeom>
          <a:solidFill>
            <a:srgbClr val="FFF8E1"/>
          </a:solidFill>
          <a:ln w="12700">
            <a:solidFill>
              <a:srgbClr val="E3E0D5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85800" y="4279392"/>
            <a:ext cx="384048" cy="384048"/>
          </a:xfrm>
          <a:prstGeom prst="ellipse">
            <a:avLst/>
          </a:prstGeom>
          <a:solidFill>
            <a:srgbClr val="FBC02D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972" y="4371564"/>
            <a:ext cx="199705" cy="199705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216152" y="4261104"/>
            <a:ext cx="7242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D6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050" dirty="0">
                <a:solidFill>
                  <a:srgbClr val="5D4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os dois manualmente no Postman (e grave!) antes de automatizar — você já valida a API e o roteiro de uma vez.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24044"/>
            <a:ext cx="9144000" cy="219456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492404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DE5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Desafio Final de QA — Automação de Testes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458200" y="4924044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DDE5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F6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AUTOMATIZAR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Executando os cenários manualmente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02920" y="1280160"/>
            <a:ext cx="3977640" cy="3429000"/>
          </a:xfrm>
          <a:prstGeom prst="roundRect">
            <a:avLst>
              <a:gd name="adj" fmla="val 1867"/>
            </a:avLst>
          </a:prstGeom>
          <a:solidFill>
            <a:srgbClr val="FFFFFF"/>
          </a:solidFill>
          <a:ln w="12700">
            <a:solidFill>
              <a:srgbClr val="E3E0D5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13232" y="1481328"/>
            <a:ext cx="420624" cy="420624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182" y="1582278"/>
            <a:ext cx="218724" cy="21872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61872" y="153619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ritual do teste manual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13232" y="2029968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Prepare: </a:t>
            </a:r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navegador limpo, cenário BDD aberto ao lado.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Grave: </a:t>
            </a:r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inicie a gravação de tela antes do primeiro passo.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Execute: </a:t>
            </a:r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siga o Dado/Quando/Então literalmente.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Registre: </a:t>
            </a:r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(passou/falhou) e o arquivo de evidência.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Reporte: </a:t>
            </a:r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falhar, documente como bug (Aula B4).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800600" y="1325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Planilha de execução (exemplo)</a:t>
            </a:r>
            <a:endParaRPr lang="en-US" sz="11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00600" y="1691640"/>
          <a:ext cx="384048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868680"/>
                <a:gridCol w="128016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Cenário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4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4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Evidência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401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 válido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Passou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login_ok.mp4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Senha inválida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Passou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login_erro.mp4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Usuário bloqueado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Passou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login_bloq.mp4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Compra completa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Passou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checkout_ok.mp4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Checkout sem nome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Falhou?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bug_001.mp4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/comments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Passou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api_get.mp4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/albums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Passou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api_post.mp4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24044"/>
            <a:ext cx="9144000" cy="219456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492404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DE5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Desafio Final de QA — Automação de Testes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458200" y="4924044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DDE5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F6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EVIDÊNCIAS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gravar a execução dos testes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02920" y="1280160"/>
            <a:ext cx="192024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E0D5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85800" y="1444752"/>
            <a:ext cx="420624" cy="420624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750" y="1545702"/>
            <a:ext cx="218724" cy="21872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85800" y="1956816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85800" y="2212848"/>
            <a:ext cx="16276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7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Xbox Game Bar: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07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+ G (grátis, nativo)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2606040" y="1280160"/>
            <a:ext cx="192024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E0D5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788920" y="1444752"/>
            <a:ext cx="420624" cy="420624"/>
          </a:xfrm>
          <a:prstGeom prst="ellipse">
            <a:avLst/>
          </a:prstGeom>
          <a:solidFill>
            <a:srgbClr val="455A64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9870" y="1545702"/>
            <a:ext cx="218724" cy="21872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788920" y="1956816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2788920" y="2212848"/>
            <a:ext cx="16276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7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Gravador nativo: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07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 + Shift + 5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4709160" y="1280160"/>
            <a:ext cx="192024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E0D5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892040" y="1444752"/>
            <a:ext cx="420624" cy="420624"/>
          </a:xfrm>
          <a:prstGeom prst="ellipse">
            <a:avLst/>
          </a:prstGeom>
          <a:solidFill>
            <a:srgbClr val="6A1B9A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2990" y="1545702"/>
            <a:ext cx="218724" cy="21872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892040" y="1956816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 Studio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4892040" y="2212848"/>
            <a:ext cx="16276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7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Grátis e completo,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07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vídeos maiores</a:t>
            </a:r>
            <a:endParaRPr lang="en-US" sz="850" dirty="0"/>
          </a:p>
        </p:txBody>
      </p:sp>
      <p:sp>
        <p:nvSpPr>
          <p:cNvPr id="22" name="Shape 17"/>
          <p:cNvSpPr/>
          <p:nvPr/>
        </p:nvSpPr>
        <p:spPr>
          <a:xfrm>
            <a:off x="6812280" y="1280160"/>
            <a:ext cx="192024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E0D5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995160" y="1444752"/>
            <a:ext cx="420624" cy="420624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6110" y="1545702"/>
            <a:ext cx="218724" cy="21872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995160" y="1956816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Loom / Extensões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6995160" y="2212848"/>
            <a:ext cx="16276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7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Grava e já gera link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07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colar no README</a:t>
            </a:r>
            <a:endParaRPr lang="en-US" sz="850" dirty="0"/>
          </a:p>
        </p:txBody>
      </p:sp>
      <p:sp>
        <p:nvSpPr>
          <p:cNvPr id="27" name="Shape 21"/>
          <p:cNvSpPr/>
          <p:nvPr/>
        </p:nvSpPr>
        <p:spPr>
          <a:xfrm>
            <a:off x="502920" y="3063240"/>
            <a:ext cx="8138160" cy="1645920"/>
          </a:xfrm>
          <a:prstGeom prst="roundRect">
            <a:avLst>
              <a:gd name="adj" fmla="val 3889"/>
            </a:avLst>
          </a:prstGeom>
          <a:solidFill>
            <a:srgbClr val="F1F8E9"/>
          </a:solidFill>
          <a:ln w="12700">
            <a:solidFill>
              <a:srgbClr val="E3E0D5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28" name="Text 22"/>
          <p:cNvSpPr/>
          <p:nvPr/>
        </p:nvSpPr>
        <p:spPr>
          <a:xfrm>
            <a:off x="731520" y="3200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Boas práticas de gravação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731520" y="352044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pronto: </a:t>
            </a:r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cenário BDD é o seu script — um vídeo curto por cenário.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 limpa: </a:t>
            </a:r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feche abas e notificações; deixe visível só o que importa.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Nomeie bem: </a:t>
            </a:r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login_sucesso.mp4, checkout_erro_nome.mp4 — nome que se explica sozinho.</a:t>
            </a:r>
            <a:endParaRPr lang="en-US" sz="950" dirty="0"/>
          </a:p>
        </p:txBody>
      </p:sp>
      <p:sp>
        <p:nvSpPr>
          <p:cNvPr id="30" name="Text 24"/>
          <p:cNvSpPr/>
          <p:nvPr/>
        </p:nvSpPr>
        <p:spPr>
          <a:xfrm>
            <a:off x="4892040" y="352044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Mostre o resultado: </a:t>
            </a:r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termine o vídeo na validação do Então (mensagem, status code).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entregar: </a:t>
            </a:r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 os vídeos ou cole os links na seção “Evidências” do README.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Automatizados também: </a:t>
            </a:r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grave um run do Cypress/Robot — fica ótimo no portfólio.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24044"/>
            <a:ext cx="9144000" cy="219456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492404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DE5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Desafio Final de QA — Automação de Testes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458200" y="4924044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DDE5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F6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Actions: testes que rodam sozinhos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02920" y="1280160"/>
            <a:ext cx="4160520" cy="3429000"/>
          </a:xfrm>
          <a:prstGeom prst="roundRect">
            <a:avLst>
              <a:gd name="adj" fmla="val 1867"/>
            </a:avLst>
          </a:prstGeom>
          <a:solidFill>
            <a:srgbClr val="FFFFFF"/>
          </a:solidFill>
          <a:ln w="12700">
            <a:solidFill>
              <a:srgbClr val="E3E0D5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13232" y="1481328"/>
            <a:ext cx="420624" cy="420624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182" y="1582278"/>
            <a:ext cx="218724" cy="21872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61872" y="153619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pipeline precisa fazer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13232" y="2011680"/>
            <a:ext cx="37490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0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workflow por repositório: </a:t>
            </a:r>
            <a:pPr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Robot, Cypress e API — independentes.</a:t>
            </a:r>
            <a:endParaRPr lang="en-US" sz="10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Gatilho automático: </a:t>
            </a:r>
            <a:pPr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rodar a cada push e pull request.</a:t>
            </a:r>
            <a:endParaRPr lang="en-US" sz="10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Relatórios como artefatos: </a:t>
            </a:r>
            <a:pPr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 o report (HTML/XML) nos artifacts do run para consulta fácil.</a:t>
            </a:r>
            <a:endParaRPr lang="en-US" sz="10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Paralelização: </a:t>
            </a:r>
            <a:pPr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aplicável, divida os testes para ganhar tempo.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892040" y="1280160"/>
            <a:ext cx="3749040" cy="3429000"/>
          </a:xfrm>
          <a:prstGeom prst="roundRect">
            <a:avLst>
              <a:gd name="adj" fmla="val 1867"/>
            </a:avLst>
          </a:prstGeom>
          <a:solidFill>
            <a:srgbClr val="10331A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093208" y="1408176"/>
            <a:ext cx="3346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CCC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MÍNIMO — CYPRESS.YML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5093208" y="1664208"/>
            <a:ext cx="3383280" cy="2935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Testes Cypress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on: [push, pull_request]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jobs: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e2e: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runs-on: ubuntu-latest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steps: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- uses: actions/checkout@v4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- run: npm ci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- run: npx cypress run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- uses: actions/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upload-artifact@v4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with: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name: relatorio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path: cypress/reports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24044"/>
            <a:ext cx="9144000" cy="219456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492404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DE5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Desafio Final de QA — Automação de Testes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458200" y="4924044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DDE5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F6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repositórios públicos no GitHub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02920" y="1280160"/>
            <a:ext cx="2606040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E3E0D5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04088" y="1463040"/>
            <a:ext cx="457200" cy="457200"/>
          </a:xfrm>
          <a:prstGeom prst="ellipse">
            <a:avLst/>
          </a:prstGeom>
          <a:solidFill>
            <a:srgbClr val="14401A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" y="1572768"/>
            <a:ext cx="237744" cy="23774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80160" y="1517904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EF6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REPOSITÓRIO 1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280160" y="171907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— Robot Framework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04088" y="2212848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7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+ Checkout em BDD, com keywords organizadas e tags.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291840" y="1280160"/>
            <a:ext cx="2606040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E3E0D5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493008" y="1463040"/>
            <a:ext cx="457200" cy="457200"/>
          </a:xfrm>
          <a:prstGeom prst="ellipse">
            <a:avLst/>
          </a:prstGeom>
          <a:solidFill>
            <a:srgbClr val="14401A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2736" y="1572768"/>
            <a:ext cx="237744" cy="23774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069080" y="1517904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EF6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REPOSITÓRIO 2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4069080" y="171907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— Cypress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3493008" y="2212848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7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mesmos fluxos em specs claras, com comandos customizados.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6080760" y="1280160"/>
            <a:ext cx="2606040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E3E0D5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281928" y="1463040"/>
            <a:ext cx="457200" cy="457200"/>
          </a:xfrm>
          <a:prstGeom prst="ellipse">
            <a:avLst/>
          </a:prstGeom>
          <a:solidFill>
            <a:srgbClr val="14401A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656" y="1572768"/>
            <a:ext cx="237744" cy="23774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858000" y="1517904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EF6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REPOSITÓRIO 3</a:t>
            </a:r>
            <a:endParaRPr lang="en-US" sz="800" dirty="0"/>
          </a:p>
        </p:txBody>
      </p:sp>
      <p:sp>
        <p:nvSpPr>
          <p:cNvPr id="23" name="Text 18"/>
          <p:cNvSpPr/>
          <p:nvPr/>
        </p:nvSpPr>
        <p:spPr>
          <a:xfrm>
            <a:off x="6858000" y="171907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— tecnologia livre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6281928" y="2212848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7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/comments e POST /albums com validações de status e corpo.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502920" y="3383280"/>
            <a:ext cx="8138160" cy="1325880"/>
          </a:xfrm>
          <a:prstGeom prst="roundRect">
            <a:avLst>
              <a:gd name="adj" fmla="val 4828"/>
            </a:avLst>
          </a:prstGeom>
          <a:solidFill>
            <a:srgbClr val="F1F8E9"/>
          </a:solidFill>
          <a:ln w="12700">
            <a:solidFill>
              <a:srgbClr val="E3E0D5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713232" y="3639312"/>
            <a:ext cx="420624" cy="420624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182" y="3740262"/>
            <a:ext cx="218724" cy="21872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261872" y="3520440"/>
            <a:ext cx="7178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repositório precisa de um README.md que responda: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07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projeto testa · como instalar · como executar os testes · onde ver os relatórios e as evidências gravadas. Estrutura de pastas clara e código limpo também contam pontos.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24044"/>
            <a:ext cx="9144000" cy="219456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492404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DE5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Desafio Final de QA — Automação de Testes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458200" y="4924044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DDE5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F6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será avaliado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02920" y="1280160"/>
            <a:ext cx="397764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0D5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04088" y="1463040"/>
            <a:ext cx="420624" cy="420624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5038" y="1563990"/>
            <a:ext cx="218724" cy="21872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80160" y="14813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+ BDD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280160" y="17830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7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Cenários no formato BDD bem escritos e automação funcionando.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663440" y="1280160"/>
            <a:ext cx="397764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0D5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864608" y="1463040"/>
            <a:ext cx="420624" cy="420624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558" y="1563990"/>
            <a:ext cx="218724" cy="21872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440680" y="14813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Cypress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440680" y="17830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7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e Checkout automatizados com boas práticas e asserções reais.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502920" y="2743200"/>
            <a:ext cx="397764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0D5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04088" y="2926080"/>
            <a:ext cx="420624" cy="420624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038" y="3027030"/>
            <a:ext cx="218724" cy="21872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280160" y="29443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de API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1280160" y="32461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7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de status code e corpo das respostas GET e POST.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4663440" y="2743200"/>
            <a:ext cx="397764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0D5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864608" y="2926080"/>
            <a:ext cx="420624" cy="420624"/>
          </a:xfrm>
          <a:prstGeom prst="ellipse">
            <a:avLst/>
          </a:prstGeom>
          <a:solidFill>
            <a:srgbClr val="6A1B9A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558" y="3027030"/>
            <a:ext cx="218724" cy="21872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440680" y="29443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+ Relatórios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5440680" y="32461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7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 orquestrados e relatórios publicados como artefatos.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>
            <a:off x="502920" y="4224528"/>
            <a:ext cx="8138160" cy="566928"/>
          </a:xfrm>
          <a:prstGeom prst="roundRect">
            <a:avLst>
              <a:gd name="adj" fmla="val 11290"/>
            </a:avLst>
          </a:prstGeom>
          <a:solidFill>
            <a:srgbClr val="FFF8E1"/>
          </a:solidFill>
          <a:ln w="12700">
            <a:solidFill>
              <a:srgbClr val="E3E0D5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85800" y="4315968"/>
            <a:ext cx="384048" cy="384048"/>
          </a:xfrm>
          <a:prstGeom prst="ellipse">
            <a:avLst/>
          </a:prstGeom>
          <a:solidFill>
            <a:srgbClr val="FBC02D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972" y="4408140"/>
            <a:ext cx="199705" cy="199705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216152" y="4297680"/>
            <a:ext cx="7242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D6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050" dirty="0">
                <a:solidFill>
                  <a:srgbClr val="5D4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Capriche no README e nas evidências: é a primeira coisa que o avaliador abre — e a sua vitrine de portfólio.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24044"/>
            <a:ext cx="9144000" cy="219456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492404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DE5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Desafio Final de QA — Automação de Testes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458200" y="4924044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DDE5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F6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RESUMÃO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você só lembrar de 6 coisas…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02920" y="1280160"/>
            <a:ext cx="3977640" cy="987552"/>
          </a:xfrm>
          <a:prstGeom prst="roundRect">
            <a:avLst>
              <a:gd name="adj" fmla="val 6481"/>
            </a:avLst>
          </a:prstGeom>
          <a:solidFill>
            <a:srgbClr val="F1F8E9"/>
          </a:solidFill>
          <a:ln w="12700">
            <a:solidFill>
              <a:srgbClr val="E3E0D5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67512" y="1572768"/>
            <a:ext cx="402336" cy="402336"/>
          </a:xfrm>
          <a:prstGeom prst="ellipse">
            <a:avLst/>
          </a:prstGeom>
          <a:solidFill>
            <a:srgbClr val="14401A"/>
          </a:solidFill>
          <a:ln/>
        </p:spPr>
      </p:sp>
      <p:sp>
        <p:nvSpPr>
          <p:cNvPr id="9" name="Text 7"/>
          <p:cNvSpPr/>
          <p:nvPr/>
        </p:nvSpPr>
        <p:spPr>
          <a:xfrm>
            <a:off x="667512" y="15727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C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137160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desafio tem 3 partes: UI (Cypress + Robot), API e CI no GitHub Actions — um repositório para cada.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63440" y="1280160"/>
            <a:ext cx="3977640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12700">
            <a:solidFill>
              <a:srgbClr val="E3E0D5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28032" y="1572768"/>
            <a:ext cx="402336" cy="402336"/>
          </a:xfrm>
          <a:prstGeom prst="ellipse">
            <a:avLst/>
          </a:prstGeom>
          <a:solidFill>
            <a:srgbClr val="14401A"/>
          </a:solidFill>
          <a:ln/>
        </p:spPr>
      </p:sp>
      <p:sp>
        <p:nvSpPr>
          <p:cNvPr id="13" name="Text 11"/>
          <p:cNvSpPr/>
          <p:nvPr/>
        </p:nvSpPr>
        <p:spPr>
          <a:xfrm>
            <a:off x="4828032" y="15727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C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49240" y="137160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Escreva os cenários BDD primeiro: eles são roteiro do teste manual, da gravação e da automação.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02920" y="2450592"/>
            <a:ext cx="3977640" cy="987552"/>
          </a:xfrm>
          <a:prstGeom prst="roundRect">
            <a:avLst>
              <a:gd name="adj" fmla="val 6481"/>
            </a:avLst>
          </a:prstGeom>
          <a:solidFill>
            <a:srgbClr val="F1F8E9"/>
          </a:solidFill>
          <a:ln w="12700">
            <a:solidFill>
              <a:srgbClr val="E3E0D5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67512" y="2743200"/>
            <a:ext cx="402336" cy="402336"/>
          </a:xfrm>
          <a:prstGeom prst="ellipse">
            <a:avLst/>
          </a:prstGeom>
          <a:solidFill>
            <a:srgbClr val="14401A"/>
          </a:solidFill>
          <a:ln/>
        </p:spPr>
      </p:sp>
      <p:sp>
        <p:nvSpPr>
          <p:cNvPr id="17" name="Text 15"/>
          <p:cNvSpPr/>
          <p:nvPr/>
        </p:nvSpPr>
        <p:spPr>
          <a:xfrm>
            <a:off x="667512" y="2743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C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88720" y="2542032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manualmente e grave a evidência de cada cenário antes de automatizar.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63440" y="2450592"/>
            <a:ext cx="3977640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12700">
            <a:solidFill>
              <a:srgbClr val="E3E0D5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28032" y="2743200"/>
            <a:ext cx="402336" cy="402336"/>
          </a:xfrm>
          <a:prstGeom prst="ellipse">
            <a:avLst/>
          </a:prstGeom>
          <a:solidFill>
            <a:srgbClr val="14401A"/>
          </a:solidFill>
          <a:ln/>
        </p:spPr>
      </p:sp>
      <p:sp>
        <p:nvSpPr>
          <p:cNvPr id="21" name="Text 19"/>
          <p:cNvSpPr/>
          <p:nvPr/>
        </p:nvSpPr>
        <p:spPr>
          <a:xfrm>
            <a:off x="4828032" y="2743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C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49240" y="2542032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 sempre o “Então”: mensagem na tela, status code 200/201, corpo da resposta.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02920" y="3621024"/>
            <a:ext cx="3977640" cy="987552"/>
          </a:xfrm>
          <a:prstGeom prst="roundRect">
            <a:avLst>
              <a:gd name="adj" fmla="val 6481"/>
            </a:avLst>
          </a:prstGeom>
          <a:solidFill>
            <a:srgbClr val="F1F8E9"/>
          </a:solidFill>
          <a:ln w="12700">
            <a:solidFill>
              <a:srgbClr val="E3E0D5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67512" y="3913632"/>
            <a:ext cx="402336" cy="402336"/>
          </a:xfrm>
          <a:prstGeom prst="ellipse">
            <a:avLst/>
          </a:prstGeom>
          <a:solidFill>
            <a:srgbClr val="14401A"/>
          </a:solidFill>
          <a:ln/>
        </p:spPr>
      </p:sp>
      <p:sp>
        <p:nvSpPr>
          <p:cNvPr id="25" name="Text 23"/>
          <p:cNvSpPr/>
          <p:nvPr/>
        </p:nvSpPr>
        <p:spPr>
          <a:xfrm>
            <a:off x="667512" y="39136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C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88720" y="3712464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Pipeline: rodar a cada push/PR e publicar relatórios como artefatos.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663440" y="3621024"/>
            <a:ext cx="3977640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12700">
            <a:solidFill>
              <a:srgbClr val="E3E0D5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828032" y="3913632"/>
            <a:ext cx="402336" cy="402336"/>
          </a:xfrm>
          <a:prstGeom prst="ellipse">
            <a:avLst/>
          </a:prstGeom>
          <a:solidFill>
            <a:srgbClr val="14401A"/>
          </a:solidFill>
          <a:ln/>
        </p:spPr>
      </p:sp>
      <p:sp>
        <p:nvSpPr>
          <p:cNvPr id="29" name="Text 27"/>
          <p:cNvSpPr/>
          <p:nvPr/>
        </p:nvSpPr>
        <p:spPr>
          <a:xfrm>
            <a:off x="4828032" y="39136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C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349240" y="3712464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claro + evidências organizadas = pontos extras e portfólio pronto.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24044"/>
            <a:ext cx="9144000" cy="219456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492404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DE5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Desafio Final de QA — Automação de Testes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458200" y="4924044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DDE5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F6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GLOSSÁRIO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Palavras desta aula</a:t>
            </a:r>
            <a:endParaRPr lang="en-US" sz="27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80160"/>
          <a:ext cx="81381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630936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44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BDD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Desenvolvimento orientado a comportamento: descreve o sistema por histórias (Dado/Quando/Então).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44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Gherkin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linguagem dos cenários BDD, legível por pessoas e por ferramentas como o Robot.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44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“porta” da API: o endereço de um recurso, como /comments ou /albums.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44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code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código da resposta HTTP: 200 (OK), 201 (criado), 404 (não achou), 500 (erro no servidor).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44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 / Workflow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Sequência automática de passos no GitHub Actions que roda seus testes a cada push.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44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Artefato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Arquivo gerado pelo pipeline (relatórios, screenshots) que fica disponível para download.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44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Evidência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Prova de que o teste foi executado: gravação de tela, screenshot, log ou relatório.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44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Smoke test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Bateria rápida que confere se o essencial funciona antes de testar fundo.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24044"/>
            <a:ext cx="9144000" cy="219456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492404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DE5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Desafio Final de QA — Automação de Testes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458200" y="4924044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DDE5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F6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estudar e consultar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02920" y="1280160"/>
            <a:ext cx="8138160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2700">
            <a:solidFill>
              <a:srgbClr val="E3E0D5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58368" y="1344168"/>
            <a:ext cx="274320" cy="27432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1412748"/>
            <a:ext cx="137160" cy="1371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51560" y="1280160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SauceDemo — o e-commerce do desafio</a:t>
            </a:r>
            <a:endParaRPr lang="en-US" sz="1000" dirty="0"/>
          </a:p>
        </p:txBody>
      </p:sp>
      <p:sp>
        <p:nvSpPr>
          <p:cNvPr id="11" name="Text 8">
            <a:hlinkClick r:id="rId2" tooltip=""/>
          </p:cNvPr>
          <p:cNvSpPr/>
          <p:nvPr/>
        </p:nvSpPr>
        <p:spPr>
          <a:xfrm>
            <a:off x="5303520" y="1280160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u="sng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https://www.saucedemo.com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02920" y="1764792"/>
            <a:ext cx="8138160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2700">
            <a:solidFill>
              <a:srgbClr val="E3E0D5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58368" y="1828800"/>
            <a:ext cx="274320" cy="27432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" y="1897380"/>
            <a:ext cx="137160" cy="1371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051560" y="1764792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JSONPlaceholder — a API fake do desafio</a:t>
            </a:r>
            <a:endParaRPr lang="en-US" sz="1000" dirty="0"/>
          </a:p>
        </p:txBody>
      </p:sp>
      <p:sp>
        <p:nvSpPr>
          <p:cNvPr id="16" name="Text 12">
            <a:hlinkClick r:id="rId4" tooltip=""/>
          </p:cNvPr>
          <p:cNvSpPr/>
          <p:nvPr/>
        </p:nvSpPr>
        <p:spPr>
          <a:xfrm>
            <a:off x="5303520" y="1764792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u="sng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https://jsonplaceholder.typicode.com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502920" y="2249424"/>
            <a:ext cx="8138160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2700">
            <a:solidFill>
              <a:srgbClr val="E3E0D5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58368" y="2313432"/>
            <a:ext cx="274320" cy="27432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948" y="2382012"/>
            <a:ext cx="137160" cy="1371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51560" y="2249424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Vídeo de referência do fluxo de testes</a:t>
            </a:r>
            <a:endParaRPr lang="en-US" sz="1000" dirty="0"/>
          </a:p>
        </p:txBody>
      </p:sp>
      <p:sp>
        <p:nvSpPr>
          <p:cNvPr id="21" name="Text 16">
            <a:hlinkClick r:id="rId6" tooltip=""/>
          </p:cNvPr>
          <p:cNvSpPr/>
          <p:nvPr/>
        </p:nvSpPr>
        <p:spPr>
          <a:xfrm>
            <a:off x="5303520" y="2249424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u="sng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https://youtu.be/T68oJWTKoIA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502920" y="2734056"/>
            <a:ext cx="8138160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2700">
            <a:solidFill>
              <a:srgbClr val="E3E0D5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58368" y="2798064"/>
            <a:ext cx="274320" cy="27432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6948" y="2866644"/>
            <a:ext cx="137160" cy="1371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051560" y="2734056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Documentação do Cypress</a:t>
            </a:r>
            <a:endParaRPr lang="en-US" sz="1000" dirty="0"/>
          </a:p>
        </p:txBody>
      </p:sp>
      <p:sp>
        <p:nvSpPr>
          <p:cNvPr id="26" name="Text 20">
            <a:hlinkClick r:id="rId8" tooltip=""/>
          </p:cNvPr>
          <p:cNvSpPr/>
          <p:nvPr/>
        </p:nvSpPr>
        <p:spPr>
          <a:xfrm>
            <a:off x="5303520" y="2734056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u="sng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https://docs.cypress.io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502920" y="3218688"/>
            <a:ext cx="8138160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2700">
            <a:solidFill>
              <a:srgbClr val="E3E0D5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58368" y="3282696"/>
            <a:ext cx="274320" cy="27432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6948" y="3351276"/>
            <a:ext cx="137160" cy="13716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051560" y="3218688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Framework + SeleniumLibrary</a:t>
            </a:r>
            <a:endParaRPr lang="en-US" sz="1000" dirty="0"/>
          </a:p>
        </p:txBody>
      </p:sp>
      <p:sp>
        <p:nvSpPr>
          <p:cNvPr id="31" name="Text 24">
            <a:hlinkClick r:id="rId10" tooltip=""/>
          </p:cNvPr>
          <p:cNvSpPr/>
          <p:nvPr/>
        </p:nvSpPr>
        <p:spPr>
          <a:xfrm>
            <a:off x="5303520" y="3218688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u="sng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1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https://robotframework.org</a:t>
            </a:r>
            <a:endParaRPr lang="en-US" sz="900" dirty="0"/>
          </a:p>
        </p:txBody>
      </p:sp>
      <p:sp>
        <p:nvSpPr>
          <p:cNvPr id="32" name="Shape 25"/>
          <p:cNvSpPr/>
          <p:nvPr/>
        </p:nvSpPr>
        <p:spPr>
          <a:xfrm>
            <a:off x="502920" y="3703320"/>
            <a:ext cx="8138160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2700">
            <a:solidFill>
              <a:srgbClr val="E3E0D5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658368" y="3767328"/>
            <a:ext cx="274320" cy="27432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6948" y="3835908"/>
            <a:ext cx="137160" cy="13716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1051560" y="3703320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— documentação oficial</a:t>
            </a:r>
            <a:endParaRPr lang="en-US" sz="1000" dirty="0"/>
          </a:p>
        </p:txBody>
      </p:sp>
      <p:sp>
        <p:nvSpPr>
          <p:cNvPr id="36" name="Text 28">
            <a:hlinkClick r:id="rId12" tooltip=""/>
          </p:cNvPr>
          <p:cNvSpPr/>
          <p:nvPr/>
        </p:nvSpPr>
        <p:spPr>
          <a:xfrm>
            <a:off x="5303520" y="3703320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u="sng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1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https://docs.github.com/actions</a:t>
            </a:r>
            <a:endParaRPr lang="en-US" sz="900" dirty="0"/>
          </a:p>
        </p:txBody>
      </p:sp>
      <p:sp>
        <p:nvSpPr>
          <p:cNvPr id="37" name="Shape 29"/>
          <p:cNvSpPr/>
          <p:nvPr/>
        </p:nvSpPr>
        <p:spPr>
          <a:xfrm>
            <a:off x="502920" y="4187952"/>
            <a:ext cx="8138160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2700">
            <a:solidFill>
              <a:srgbClr val="E3E0D5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38" name="Shape 30"/>
          <p:cNvSpPr/>
          <p:nvPr/>
        </p:nvSpPr>
        <p:spPr>
          <a:xfrm>
            <a:off x="658368" y="4251960"/>
            <a:ext cx="274320" cy="27432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26948" y="4320540"/>
            <a:ext cx="137160" cy="137160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1051560" y="4187952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Syllabus CTFL 4.0 (ISTQB/BSTQB)</a:t>
            </a:r>
            <a:endParaRPr lang="en-US" sz="1000" dirty="0"/>
          </a:p>
        </p:txBody>
      </p:sp>
      <p:sp>
        <p:nvSpPr>
          <p:cNvPr id="41" name="Text 32">
            <a:hlinkClick r:id="rId14" tooltip=""/>
          </p:cNvPr>
          <p:cNvSpPr/>
          <p:nvPr/>
        </p:nvSpPr>
        <p:spPr>
          <a:xfrm>
            <a:off x="5303520" y="4187952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u="sng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1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https://bstqb.org.br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Desafio Final de QA — Automação de Testes</dc:title>
  <dc:subject>PptxGenJS Presentation</dc:subject>
  <dc:creator>Douglas Adriano Queiroz</dc:creator>
  <cp:lastModifiedBy>Douglas Adriano Queiroz</cp:lastModifiedBy>
  <cp:revision>1</cp:revision>
  <dcterms:created xsi:type="dcterms:W3CDTF">2026-07-01T21:09:45Z</dcterms:created>
  <dcterms:modified xsi:type="dcterms:W3CDTF">2026-07-01T21:09:45Z</dcterms:modified>
</cp:coreProperties>
</file>
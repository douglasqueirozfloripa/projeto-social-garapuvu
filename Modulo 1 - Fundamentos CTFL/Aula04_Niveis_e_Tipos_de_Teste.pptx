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4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31520"/>
            <a:ext cx="1371600" cy="137160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2144" y="1060704"/>
            <a:ext cx="713232" cy="7132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286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9CCC6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MÓDULO 1 · AULA 4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" y="26974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Aula 4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4754880" y="1828800"/>
            <a:ext cx="6949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Níveis e tipos de testes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4800600" y="3703320"/>
            <a:ext cx="1371600" cy="7315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0" name="Text 7"/>
          <p:cNvSpPr/>
          <p:nvPr/>
        </p:nvSpPr>
        <p:spPr>
          <a:xfrm>
            <a:off x="4754880" y="388620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6E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que camada testar e o que exatamente estamos verificando.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754880" y="60350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C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Instrutor: Douglas Adriano Queiroz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vamos ver hoje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AULA 4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719072"/>
            <a:ext cx="640080" cy="64008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291" y="1872691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Níveis de teste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4672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Componente, integração, sistema, aceitação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22064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8096" y="1719072"/>
            <a:ext cx="640080" cy="640080"/>
          </a:xfrm>
          <a:prstGeom prst="ellipse">
            <a:avLst/>
          </a:prstGeom>
          <a:solidFill>
            <a:srgbClr val="43A04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1715" y="1872691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8096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Tipos de teste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78096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 × não-funcional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95488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51520" y="1719072"/>
            <a:ext cx="640080" cy="640080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5139" y="1872691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1520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Caixa branca × preta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351520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dentro × por fora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04672" y="3913632"/>
            <a:ext cx="640080" cy="640080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291" y="4067251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4672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Confirmação e regressão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804672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Conferir a correção e o entorno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322064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78096" y="3913632"/>
            <a:ext cx="640080" cy="64008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1715" y="4067251"/>
            <a:ext cx="332842" cy="33284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78096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Teste de manutenção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578096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o sistema muda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095488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351520" y="3913632"/>
            <a:ext cx="640080" cy="6400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5139" y="4067251"/>
            <a:ext cx="332842" cy="33284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51520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Exemplos no nosso app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351520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Vagas de freelancer</a:t>
            </a:r>
            <a:endParaRPr lang="en-US" sz="1200" dirty="0"/>
          </a:p>
        </p:txBody>
      </p:sp>
      <p:sp>
        <p:nvSpPr>
          <p:cNvPr id="34" name="Shape 2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5" name="Text 27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1 · Aula 4 — Níveis e Tipos de Teste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Os 4 níveis de teste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NÍVEIS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567178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03045" y="1783080"/>
            <a:ext cx="658368" cy="658368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1053" y="1941088"/>
            <a:ext cx="342351" cy="34235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560320"/>
            <a:ext cx="23842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Componente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58368" y="3108960"/>
            <a:ext cx="234772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peça isolada (unidade)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124962" y="1554480"/>
            <a:ext cx="1645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B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3390138" y="1554480"/>
            <a:ext cx="2567178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344543" y="1783080"/>
            <a:ext cx="658368" cy="658368"/>
          </a:xfrm>
          <a:prstGeom prst="ellipse">
            <a:avLst/>
          </a:prstGeom>
          <a:solidFill>
            <a:srgbClr val="43A047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2551" y="1941088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81578" y="2560320"/>
            <a:ext cx="23842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Integração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3499866" y="3108960"/>
            <a:ext cx="234772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Peças conversando entre si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5966460" y="1554480"/>
            <a:ext cx="1645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B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200" dirty="0"/>
          </a:p>
        </p:txBody>
      </p:sp>
      <p:sp>
        <p:nvSpPr>
          <p:cNvPr id="16" name="Shape 12"/>
          <p:cNvSpPr/>
          <p:nvPr/>
        </p:nvSpPr>
        <p:spPr>
          <a:xfrm>
            <a:off x="6231636" y="1554480"/>
            <a:ext cx="2567178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186041" y="1783080"/>
            <a:ext cx="658368" cy="658368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4049" y="1941088"/>
            <a:ext cx="342351" cy="34235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23076" y="2560320"/>
            <a:ext cx="23842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Sistema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6341364" y="3108960"/>
            <a:ext cx="234772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produto inteiro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8807958" y="1554480"/>
            <a:ext cx="1645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B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200" dirty="0"/>
          </a:p>
        </p:txBody>
      </p:sp>
      <p:sp>
        <p:nvSpPr>
          <p:cNvPr id="22" name="Shape 17"/>
          <p:cNvSpPr/>
          <p:nvPr/>
        </p:nvSpPr>
        <p:spPr>
          <a:xfrm>
            <a:off x="9073134" y="1554480"/>
            <a:ext cx="2567178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10027539" y="1783080"/>
            <a:ext cx="658368" cy="658368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85547" y="1941088"/>
            <a:ext cx="342351" cy="342351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164574" y="2560320"/>
            <a:ext cx="23842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Aceitação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9182862" y="3108960"/>
            <a:ext cx="234772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cliente valida se serve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548640" y="4206240"/>
            <a:ext cx="11109960" cy="1737360"/>
          </a:xfrm>
          <a:prstGeom prst="roundRect">
            <a:avLst>
              <a:gd name="adj" fmla="val 5263"/>
            </a:avLst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822960" y="43434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nosso app de vagas de freelancer</a:t>
            </a:r>
            <a:endParaRPr lang="en-US" sz="1600" dirty="0"/>
          </a:p>
        </p:txBody>
      </p:sp>
      <p:sp>
        <p:nvSpPr>
          <p:cNvPr id="29" name="Text 23"/>
          <p:cNvSpPr/>
          <p:nvPr/>
        </p:nvSpPr>
        <p:spPr>
          <a:xfrm>
            <a:off x="822960" y="480060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0D3C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Componente: testar a função que valida o CEP do bairro. Integração: o cadastro de vaga salva no banco? Sistema: criar vaga, buscar por bairro e candidatar-se ponta a ponta. Aceitação: o cliente confirma que publicar uma vaga em Floripa funciona como ele espera.</a:t>
            </a:r>
            <a:endParaRPr lang="en-US" sz="1350" dirty="0"/>
          </a:p>
        </p:txBody>
      </p:sp>
      <p:sp>
        <p:nvSpPr>
          <p:cNvPr id="30" name="Shape 2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1" name="Text 25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1 · Aula 4 — Níveis e Tipos de Teste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Teste funcional × não-funcional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TIPOS DE TESTE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40680" cy="3657600"/>
          </a:xfrm>
          <a:prstGeom prst="roundRect">
            <a:avLst>
              <a:gd name="adj" fmla="val 2500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37360"/>
            <a:ext cx="731520" cy="73152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1912925"/>
            <a:ext cx="380390" cy="3803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78308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Funcional (o quê)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260604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o QUE o sistema faz.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'ao salvar a vaga, ela aparece na busca?'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Baseado nos requisitos de função.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309360" y="1463040"/>
            <a:ext cx="5440680" cy="3657600"/>
          </a:xfrm>
          <a:prstGeom prst="roundRect">
            <a:avLst>
              <a:gd name="adj" fmla="val 2500"/>
            </a:avLst>
          </a:prstGeom>
          <a:solidFill>
            <a:srgbClr val="FFF3CC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83680" y="1737360"/>
            <a:ext cx="731520" cy="73152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9245" y="1912925"/>
            <a:ext cx="380390" cy="38039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52360" y="178308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5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Não-funcional (como)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629400" y="260604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COMO o sistema se comporta.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Desempenho, segurança, usabilidade, compatibilidade.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'a busca responde em menos de 2s com 1000 vagas?'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48640" y="5257800"/>
            <a:ext cx="11109960" cy="731520"/>
          </a:xfrm>
          <a:prstGeom prst="roundRect">
            <a:avLst>
              <a:gd name="adj" fmla="val 12500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77240" y="5340096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303" y="5476159"/>
            <a:ext cx="294803" cy="29480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5349240"/>
            <a:ext cx="9921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 pergunta 'faz?'; não-funcional pergunta 'faz bem?'.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9" name="Text 14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1 · Aula 4 — Níveis e Tipos de Teste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Caixa preta × caixa branca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COMO ENXERGAMOS O SISTEMA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40680" cy="3657600"/>
          </a:xfrm>
          <a:prstGeom prst="roundRect">
            <a:avLst>
              <a:gd name="adj" fmla="val 2500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37360"/>
            <a:ext cx="731520" cy="73152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1912925"/>
            <a:ext cx="380390" cy="3803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78308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Caixa preta (por fora)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260604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 pela interface, sem ver o código.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no comportamento esperado.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testa não precisa programar.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309360" y="1463040"/>
            <a:ext cx="5440680" cy="3657600"/>
          </a:xfrm>
          <a:prstGeom prst="roundRect">
            <a:avLst>
              <a:gd name="adj" fmla="val 2500"/>
            </a:avLst>
          </a:prstGeom>
          <a:solidFill>
            <a:srgbClr val="FFF3CC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83680" y="1737360"/>
            <a:ext cx="731520" cy="73152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9245" y="1912925"/>
            <a:ext cx="380390" cy="38039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52360" y="178308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5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Caixa branca (por dentro)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629400" y="260604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 olhando a estrutura do código.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em cobrir linhas e decisões.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Exige ler/entender o código.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48640" y="5257800"/>
            <a:ext cx="11109960" cy="731520"/>
          </a:xfrm>
          <a:prstGeom prst="roundRect">
            <a:avLst>
              <a:gd name="adj" fmla="val 12500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77240" y="5340096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303" y="5476159"/>
            <a:ext cx="294803" cy="29480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5349240"/>
            <a:ext cx="9921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Veremos as técnicas detalhadas na Aula 5.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9" name="Text 14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1 · Aula 4 — Níveis e Tipos de Teste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Confirmação e regressão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TESTES DE MUDANÇA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45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que mexemos no software, dois testes são essenciais.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49834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de confirmação: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de corrigir um bug, refazemos o teste para confirmar que sumiu.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de regressão: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conferimos se a mudança não quebrou algo que já funcionava.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importa: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corrigir uma coisa e quebrar outra é comuníssimo.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Ótimos para automatizar: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rodam muitas vezes, sempre iguais.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41732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FFF3CC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37960" y="1645920"/>
            <a:ext cx="685800" cy="68580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2" y="1810512"/>
            <a:ext cx="356616" cy="35661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60920" y="161848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5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Analogia da casa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60920" y="2039112"/>
            <a:ext cx="4069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conserta a torneira da cozinha (confirmação: a torneira parou de pingar?) e depois confere se a pressão não caiu no chuveiro do banheiro (regressão: mexer aqui estragou ali?).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309360" y="393192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37960" y="4631436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4023" y="4767499"/>
            <a:ext cx="294803" cy="29480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69480" y="4023360"/>
            <a:ext cx="4160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mudança pede confirmação (sarou?) e regressão (não quebrou o resto?).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7" name="Text 13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1 · Aula 4 — Níveis e Tipos de Teste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Teste de manutenção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QUANDO O SISTEMA MUDA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719072"/>
            <a:ext cx="640080" cy="64008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291" y="1872691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Melhorias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4672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Novas funções ou ajustes no que existe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22064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8096" y="1719072"/>
            <a:ext cx="640080" cy="640080"/>
          </a:xfrm>
          <a:prstGeom prst="ellipse">
            <a:avLst/>
          </a:prstGeom>
          <a:solidFill>
            <a:srgbClr val="43A04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1715" y="1872691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8096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Correções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78096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Defeitos encontrados em produção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95488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51520" y="1719072"/>
            <a:ext cx="640080" cy="640080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5139" y="1872691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1520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Ambiente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351520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Atualização de sistema, banco ou biblioteca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04672" y="3913632"/>
            <a:ext cx="640080" cy="640080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291" y="4067251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4672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Análise de impacto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804672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Descobrir o que a mudança pode afetar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322064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78096" y="3913632"/>
            <a:ext cx="640080" cy="64008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1715" y="4067251"/>
            <a:ext cx="332842" cy="33284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78096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Regressão forte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578096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Reexecutar testes do entorno afetado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095488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351520" y="3913632"/>
            <a:ext cx="640080" cy="6400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5139" y="4067251"/>
            <a:ext cx="332842" cy="33284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51520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Migração de dados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351520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Conferir dados antigos após a mudança</a:t>
            </a:r>
            <a:endParaRPr lang="en-US" sz="1200" dirty="0"/>
          </a:p>
        </p:txBody>
      </p:sp>
      <p:sp>
        <p:nvSpPr>
          <p:cNvPr id="34" name="Shape 2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5" name="Text 27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1 · Aula 4 — Níveis e Tipos de Teste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Quando falta um nível de teste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CASOS REAIS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Pular um nível — integração, sistema ou aceitação — deixa passar falhas que isoladamente ninguém viu.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440680" cy="2788920"/>
          </a:xfrm>
          <a:prstGeom prst="roundRect">
            <a:avLst>
              <a:gd name="adj" fmla="val 3279"/>
            </a:avLst>
          </a:prstGeom>
          <a:solidFill>
            <a:srgbClr val="FFE0B2"/>
          </a:solidFill>
          <a:ln w="12700">
            <a:solidFill>
              <a:srgbClr val="EF6C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2395728"/>
            <a:ext cx="731520" cy="731520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813" y="2571293"/>
            <a:ext cx="380390" cy="38039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2395728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2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Site sobrecarregado (governo, 2013)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59536" y="3246120"/>
            <a:ext cx="4892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3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grande portal de saúde dos EUA travou no lançamento: cada parte funcionava isolada, mas faltou teste de sistema e de carga com todos juntos. Milhões não conseguiram se cadastrar.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309360" y="2148840"/>
            <a:ext cx="5440680" cy="2788920"/>
          </a:xfrm>
          <a:prstGeom prst="roundRect">
            <a:avLst>
              <a:gd name="adj" fmla="val 3279"/>
            </a:avLst>
          </a:prstGeom>
          <a:solidFill>
            <a:srgbClr val="FFE0B2"/>
          </a:solidFill>
          <a:ln w="12700">
            <a:solidFill>
              <a:srgbClr val="EF6C0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601968" y="2395728"/>
            <a:ext cx="731520" cy="731520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7533" y="2571293"/>
            <a:ext cx="380390" cy="38039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98080" y="2395728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2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Mars Climate Orbiter (1999)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620256" y="3246120"/>
            <a:ext cx="4892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3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equipes usaram unidades diferentes (métrica × imperial). Faltou teste de integração entre os módulos. A sonda de US$ 327 milhões se perdeu em Marte.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48640" y="5120640"/>
            <a:ext cx="11109960" cy="868680"/>
          </a:xfrm>
          <a:prstGeom prst="roundRect">
            <a:avLst>
              <a:gd name="adj" fmla="val 10526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77240" y="5271516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303" y="5407579"/>
            <a:ext cx="294803" cy="29480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08760" y="5212080"/>
            <a:ext cx="9921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nível pega um tipo de defeito — todos importam.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20" name="Text 15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1 · Aula 4 — Níveis e Tipos de Teste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4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822960" cy="82296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150" y="700430"/>
            <a:ext cx="427939" cy="42793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5029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Resumão da aula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600200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835" y="1698955"/>
            <a:ext cx="213970" cy="21397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34440" y="152704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níveis: componente, integração, sistema e aceitação.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640080" y="2350008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35" y="2448763"/>
            <a:ext cx="213970" cy="21397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34440" y="2276856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 = o que o sistema faz; não-funcional = quão bem ele faz.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640080" y="3099816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835" y="3198571"/>
            <a:ext cx="213970" cy="21397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34440" y="3026664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Caixa preta testa por fora; caixa branca, olhando o código.</a:t>
            </a:r>
            <a:endParaRPr lang="en-US" sz="1500" dirty="0"/>
          </a:p>
        </p:txBody>
      </p:sp>
      <p:sp>
        <p:nvSpPr>
          <p:cNvPr id="15" name="Shape 9"/>
          <p:cNvSpPr/>
          <p:nvPr/>
        </p:nvSpPr>
        <p:spPr>
          <a:xfrm>
            <a:off x="640080" y="3849624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835" y="3948379"/>
            <a:ext cx="213970" cy="21397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234440" y="377647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Confirmação: o bug sarou? Regressão: a correção quebrou algo?</a:t>
            </a:r>
            <a:endParaRPr lang="en-US" sz="1500" dirty="0"/>
          </a:p>
        </p:txBody>
      </p:sp>
      <p:sp>
        <p:nvSpPr>
          <p:cNvPr id="18" name="Shape 11"/>
          <p:cNvSpPr/>
          <p:nvPr/>
        </p:nvSpPr>
        <p:spPr>
          <a:xfrm>
            <a:off x="640080" y="4599432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835" y="4698187"/>
            <a:ext cx="213970" cy="21397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234440" y="452628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Manutenção exige análise de impacto e regressão ao mudar o sistema.</a:t>
            </a:r>
            <a:endParaRPr lang="en-US" sz="1500" dirty="0"/>
          </a:p>
        </p:txBody>
      </p:sp>
      <p:sp>
        <p:nvSpPr>
          <p:cNvPr id="21" name="Shape 13"/>
          <p:cNvSpPr/>
          <p:nvPr/>
        </p:nvSpPr>
        <p:spPr>
          <a:xfrm>
            <a:off x="640080" y="5349240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8835" y="5447995"/>
            <a:ext cx="213970" cy="21397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1234440" y="527608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de integração derrubou Mars Orbiter e portais inteiros.</a:t>
            </a:r>
            <a:endParaRPr lang="en-US" sz="1500" dirty="0"/>
          </a:p>
        </p:txBody>
      </p:sp>
      <p:sp>
        <p:nvSpPr>
          <p:cNvPr id="24" name="Shape 1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25" name="Text 16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1 · Aula 4 — Níveis e Tipos de Teste</a:t>
            </a:r>
            <a:endParaRPr lang="en-US" sz="900" dirty="0"/>
          </a:p>
        </p:txBody>
      </p:sp>
      <p:sp>
        <p:nvSpPr>
          <p:cNvPr id="26" name="Text 17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731520" cy="73152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485" y="559613"/>
            <a:ext cx="380390" cy="3803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8404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Glossário da aula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371600"/>
            <a:ext cx="539496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1371600"/>
            <a:ext cx="82296" cy="932688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7" name="Text 4"/>
          <p:cNvSpPr/>
          <p:nvPr/>
        </p:nvSpPr>
        <p:spPr>
          <a:xfrm>
            <a:off x="704088" y="1389888"/>
            <a:ext cx="5074920" cy="9326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Nível de teste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Camada onde se testa (componente, integração, sistema, aceitação)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02920" y="2450592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2920" y="2450592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0" name="Text 7"/>
          <p:cNvSpPr/>
          <p:nvPr/>
        </p:nvSpPr>
        <p:spPr>
          <a:xfrm>
            <a:off x="704088" y="2468880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de componente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Teste de uma unidade isolada (também 'unitário')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02920" y="3291840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" y="3291840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3" name="Text 10"/>
          <p:cNvSpPr/>
          <p:nvPr/>
        </p:nvSpPr>
        <p:spPr>
          <a:xfrm>
            <a:off x="704088" y="3310128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de integração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Verifica peças funcionando juntas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02920" y="4133088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02920" y="4133088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6" name="Text 13"/>
          <p:cNvSpPr/>
          <p:nvPr/>
        </p:nvSpPr>
        <p:spPr>
          <a:xfrm>
            <a:off x="704088" y="4151376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de sistema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Verifica o produto inteiro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02920" y="4974336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02920" y="4974336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9" name="Text 16"/>
          <p:cNvSpPr/>
          <p:nvPr/>
        </p:nvSpPr>
        <p:spPr>
          <a:xfrm>
            <a:off x="704088" y="4992624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de aceitação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Cliente/usuário valida se atende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263640" y="1371600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263640" y="1371600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22" name="Text 19"/>
          <p:cNvSpPr/>
          <p:nvPr/>
        </p:nvSpPr>
        <p:spPr>
          <a:xfrm>
            <a:off x="6464808" y="1389888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Verifica o que o sistema faz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6263640" y="2212848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263640" y="2212848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25" name="Text 22"/>
          <p:cNvSpPr/>
          <p:nvPr/>
        </p:nvSpPr>
        <p:spPr>
          <a:xfrm>
            <a:off x="6464808" y="2231136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Não-funcional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Verifica desempenho, segurança, usabilidade etc.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6263640" y="3054096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263640" y="3054096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28" name="Text 25"/>
          <p:cNvSpPr/>
          <p:nvPr/>
        </p:nvSpPr>
        <p:spPr>
          <a:xfrm>
            <a:off x="6464808" y="3072384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Caixa preta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Teste sem olhar o código interno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6263640" y="3895344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263640" y="3895344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31" name="Text 28"/>
          <p:cNvSpPr/>
          <p:nvPr/>
        </p:nvSpPr>
        <p:spPr>
          <a:xfrm>
            <a:off x="6464808" y="3913632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Caixa branca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Teste baseado na estrutura do código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6263640" y="4736592"/>
            <a:ext cx="539496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263640" y="4736592"/>
            <a:ext cx="82296" cy="932688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34" name="Text 31"/>
          <p:cNvSpPr/>
          <p:nvPr/>
        </p:nvSpPr>
        <p:spPr>
          <a:xfrm>
            <a:off x="6464808" y="4754880"/>
            <a:ext cx="5074920" cy="9326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Regressão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Conferir se uma mudança não quebrou o que já funcionava</a:t>
            </a: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6" name="Text 33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1 · Aula 4 — Níveis e Tipos de Teste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731520" cy="73152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485" y="559613"/>
            <a:ext cx="380390" cy="3803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84048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Referências e para aprofundar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371600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1371600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1389888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BSTQB / ISTQB.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Syllabus Certified Tester Foundation Level (CTFL) v4.0 — versão em português.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02920" y="2066544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2920" y="2066544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2084832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ISTQB Glossary.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Glossário oficial de termos de teste — glossary.istqb.org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02920" y="2761488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" y="2761488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2779776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CTFL 4.0 — Cap. 2.2 e 2.3.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Níveis e Tipos de Teste; Teste de Manutenção.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02920" y="3456432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02920" y="3456432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6" name="Text 13"/>
          <p:cNvSpPr/>
          <p:nvPr/>
        </p:nvSpPr>
        <p:spPr>
          <a:xfrm>
            <a:off x="731520" y="3474720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praticar: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exemplos aplicados ao nosso app de vagas de freelancer (Floripa / Jaraguá do Sul) nos Módulos 2 e 3.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8" name="Text 15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1 · Aula 4 — Níveis e Tipos de Teste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Níveis e tipos de testes</dc:title>
  <dc:subject>PptxGenJS Presentation</dc:subject>
  <dc:creator>Douglas Adriano Queiroz</dc:creator>
  <cp:lastModifiedBy>Douglas Adriano Queiroz</cp:lastModifiedBy>
  <cp:revision>1</cp:revision>
  <dcterms:created xsi:type="dcterms:W3CDTF">2026-06-22T12:29:46Z</dcterms:created>
  <dcterms:modified xsi:type="dcterms:W3CDTF">2026-06-22T12:29:46Z</dcterms:modified>
</cp:coreProperties>
</file>
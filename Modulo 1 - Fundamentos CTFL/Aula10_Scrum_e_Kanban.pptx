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1371600" cy="13716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060704"/>
            <a:ext cx="713232" cy="713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286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CCC6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1 · AULA 10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Aula 10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754880" y="182880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Scrum e Kanban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4800600" y="3703320"/>
            <a:ext cx="1371600" cy="73152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0" name="Text 7"/>
          <p:cNvSpPr/>
          <p:nvPr/>
        </p:nvSpPr>
        <p:spPr>
          <a:xfrm>
            <a:off x="475488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E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jeitos mais comuns de organizar o trabalho ágil — e o papel do teste neles.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75488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C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Instrutor: Douglas Adriano Queiroz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vamos ver hoje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AULA 10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19072"/>
            <a:ext cx="640080" cy="64008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" y="1872691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Scrum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sprints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2064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8096" y="1719072"/>
            <a:ext cx="640080" cy="640080"/>
          </a:xfrm>
          <a:prstGeom prst="ellipse">
            <a:avLst/>
          </a:prstGeom>
          <a:solidFill>
            <a:srgbClr val="43A04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715" y="1872691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8096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Papéis do Scrum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78096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PO, Scrum Master, time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95488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51520" y="1719072"/>
            <a:ext cx="640080" cy="640080"/>
          </a:xfrm>
          <a:prstGeom prst="ellipse">
            <a:avLst/>
          </a:prstGeom>
          <a:solidFill>
            <a:srgbClr val="EF6C0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139" y="1872691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51520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Cerimônias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351520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reuniões do Scrum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4672" y="3913632"/>
            <a:ext cx="640080" cy="640080"/>
          </a:xfrm>
          <a:prstGeom prst="ellipse">
            <a:avLst/>
          </a:prstGeom>
          <a:solidFill>
            <a:srgbClr val="1565C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" y="4067251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Kanban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04672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contínuo e quadro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22064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8096" y="3913632"/>
            <a:ext cx="640080" cy="64008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1715" y="4067251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8096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WIP e fluxo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578096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Limitar o trabalho em curso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95488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351520" y="3913632"/>
            <a:ext cx="640080" cy="6400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5139" y="4067251"/>
            <a:ext cx="332842" cy="33284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51520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 no ágil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351520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qualidade entra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35" name="Text 27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1 · Aula 10 — Scrum e Kanban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Scrum: trabalho em sprints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SCRUM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jeito de trabalhar em ciclos fixos e curtos (sprints), entregando algo pronto ao fim de cada um.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4983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1 a 4 semanas com uma meta clara.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priorizada do que falta fazer.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fim da sprint, uma fatia do produto pronta e testada.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Inspeciona e adapta: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sprint o time melhora.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6184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Analogia da casa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60920" y="20391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reformar a casa por etapas combinadas: 'nestas 2 semanas, deixamos a cozinha pronta'. Ao fim, a cozinha funciona de verdade — não fica pela metade esperando o resto da obra.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09360" y="39319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463143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476749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4023360"/>
            <a:ext cx="4160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entrega valor pronto em ciclos curtos e previsíveis.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1 · Aula 10 — Scrum e Kanban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Papéis e artefatos do Scrum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QUEM É QUEM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19072"/>
            <a:ext cx="640080" cy="64008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" y="1872691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Owner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 prioriza o backlog — a voz do cliente.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2064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8096" y="1719072"/>
            <a:ext cx="640080" cy="640080"/>
          </a:xfrm>
          <a:prstGeom prst="ellipse">
            <a:avLst/>
          </a:prstGeom>
          <a:solidFill>
            <a:srgbClr val="43A04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715" y="1872691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8096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Scrum Master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78096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o processo e remove impedimentos.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95488" y="148132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51520" y="1719072"/>
            <a:ext cx="640080" cy="640080"/>
          </a:xfrm>
          <a:prstGeom prst="ellipse">
            <a:avLst/>
          </a:prstGeom>
          <a:solidFill>
            <a:srgbClr val="EF6C0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139" y="1872691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51520" y="244144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de Desenvolvimento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351520" y="283464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Constrói e testa o incremento (inclui QA).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4672" y="3913632"/>
            <a:ext cx="640080" cy="640080"/>
          </a:xfrm>
          <a:prstGeom prst="ellipse">
            <a:avLst/>
          </a:prstGeom>
          <a:solidFill>
            <a:srgbClr val="1565C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" y="4067251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Backlog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04672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pode ser feito, priorizado.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22064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8096" y="3913632"/>
            <a:ext cx="640080" cy="64008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1715" y="4067251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8096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Backlog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578096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será feito nesta sprint.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95488" y="3675888"/>
            <a:ext cx="3544824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351520" y="3913632"/>
            <a:ext cx="640080" cy="6400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5139" y="4067251"/>
            <a:ext cx="332842" cy="33284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51520" y="4636008"/>
            <a:ext cx="3087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Incremento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351520" y="5029200"/>
            <a:ext cx="3087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pronto da sprint.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35" name="Text 27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1 · Aula 10 — Scrum e Kanban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cerimônias do Scrum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REUNIÕES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17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3045" y="1783080"/>
            <a:ext cx="658368" cy="658368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053" y="194108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6032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58368" y="3108960"/>
            <a:ext cx="234772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 a sprint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124962" y="1554480"/>
            <a:ext cx="1645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B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390138" y="1554480"/>
            <a:ext cx="256717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4543" y="1783080"/>
            <a:ext cx="658368" cy="658368"/>
          </a:xfrm>
          <a:prstGeom prst="ellipse">
            <a:avLst/>
          </a:prstGeom>
          <a:solidFill>
            <a:srgbClr val="43A04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551" y="1941088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81578" y="256032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499866" y="3108960"/>
            <a:ext cx="234772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por dia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5966460" y="1554480"/>
            <a:ext cx="1645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B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6231636" y="1554480"/>
            <a:ext cx="256717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86041" y="1783080"/>
            <a:ext cx="658368" cy="658368"/>
          </a:xfrm>
          <a:prstGeom prst="ellipse">
            <a:avLst/>
          </a:prstGeom>
          <a:solidFill>
            <a:srgbClr val="EF6C0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4049" y="1941088"/>
            <a:ext cx="342351" cy="3423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23076" y="256032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41364" y="3108960"/>
            <a:ext cx="234772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o que ficou pronto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807958" y="1554480"/>
            <a:ext cx="1645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B3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17"/>
          <p:cNvSpPr/>
          <p:nvPr/>
        </p:nvSpPr>
        <p:spPr>
          <a:xfrm>
            <a:off x="9073134" y="1554480"/>
            <a:ext cx="256717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0027539" y="1783080"/>
            <a:ext cx="658368" cy="658368"/>
          </a:xfrm>
          <a:prstGeom prst="ellipse">
            <a:avLst/>
          </a:prstGeom>
          <a:solidFill>
            <a:srgbClr val="1565C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5547" y="1941088"/>
            <a:ext cx="342351" cy="34235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64574" y="256032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Retrospectiva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9182862" y="3108960"/>
            <a:ext cx="234772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melhorar o processo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548640" y="4206240"/>
            <a:ext cx="11109960" cy="1737360"/>
          </a:xfrm>
          <a:prstGeom prst="roundRect">
            <a:avLst>
              <a:gd name="adj" fmla="val 5263"/>
            </a:avLst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Daily (reunião diária)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822960" y="48006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D3C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Rápida, em pé: cada um diz o que fez, o que fará e se está travado. Não é relatório para o chefe — é o time se sincronizando. Para o teste, é onde se avisa que um item está pronto para testar ou que há um bug bloqueando.</a:t>
            </a:r>
            <a:endParaRPr lang="en-US" sz="1350" dirty="0"/>
          </a:p>
        </p:txBody>
      </p:sp>
      <p:sp>
        <p:nvSpPr>
          <p:cNvPr id="30" name="Shape 2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31" name="Text 25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1 · Aula 10 — Scrum e Kanban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Scrum × Kanban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DOIS SABORES DO ÁGIL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3657600"/>
          </a:xfrm>
          <a:prstGeom prst="roundRect">
            <a:avLst>
              <a:gd name="adj" fmla="val 2500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Scrum (ciclos)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sprints de tempo fixo.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 cerimônias definidos.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para planejar em ondas.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463040"/>
            <a:ext cx="5440680" cy="3657600"/>
          </a:xfrm>
          <a:prstGeom prst="roundRect">
            <a:avLst>
              <a:gd name="adj" fmla="val 2500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0" y="1737360"/>
            <a:ext cx="731520" cy="73152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191292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52360" y="1783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Kanban (fluxo)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2940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contínuo, sem sprints fixas.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visual: A fazer → Fazendo → Feito.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 o trabalho em curso (WIP).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525780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34009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03" y="5476159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5349240"/>
            <a:ext cx="99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cadencia por tempo; Kanban otimiza o fluxo contínuo.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9" name="Text 14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1 · Aula 10 — Scrum e Kanban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Kanban: enxergar e limitar o fluxo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463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KANBAN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Visualizar o trabalho num quadro e limitar quantas tarefas ficam 'em andamento' ao mesmo tempo.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49834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de colunas: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tarefa é um cartão que anda da esquerda para a direita.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WIP: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poucos itens em curso = termina mais rápido.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Puxar, não empurrar: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pega tarefa nova quando libera espaço.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tempo que cada tarefa leva para ficar pronta.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3CC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60920" y="161848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Analogia da casa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60920" y="2039112"/>
            <a:ext cx="4069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regra do pedreiro: não comece a reboco da sala enquanto a do quarto não secou. Fazer uma coisa de cada vez termina a obra mais rápido do que abrir todos os cômodos juntos.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09360" y="39319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1F8E9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4631436"/>
            <a:ext cx="566928" cy="566928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476749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4023360"/>
            <a:ext cx="4160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daqui:  </a:t>
            </a:r>
            <a:pPr indent="0" marL="0">
              <a:buNone/>
            </a:pPr>
            <a:r>
              <a:rPr lang="en-US" sz="13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Limitar o trabalho em curso entrega mais rápido — começar tudo trava tudo.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1 · Aula 10 — Scrum e Kanban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22960" cy="822960"/>
          </a:xfrm>
          <a:prstGeom prst="ellipse">
            <a:avLst/>
          </a:prstGeom>
          <a:solidFill>
            <a:srgbClr val="F9A82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700430"/>
            <a:ext cx="427939" cy="42793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5029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Resumão da aula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" y="1698955"/>
            <a:ext cx="213970" cy="2139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1527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organiza o trabalho em sprints curtas com meta clara.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40080" y="2350008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35" y="2448763"/>
            <a:ext cx="213970" cy="21397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34440" y="22768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Papéis: Product Owner, Scrum Master e Time de Desenvolvimento.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40080" y="3099816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3198571"/>
            <a:ext cx="213970" cy="21397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34440" y="302666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Cerimônias: Planning, Daily, Review e Retrospectiva.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640080" y="3849624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3948379"/>
            <a:ext cx="213970" cy="21397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776472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usa fluxo contínuo, quadro visual e limite de WIP.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640080" y="4599432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4698187"/>
            <a:ext cx="213970" cy="21397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34440" y="45262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cadencia por tempo; Kanban otimiza o fluxo.</a:t>
            </a:r>
            <a:endParaRPr lang="en-US" sz="1500" dirty="0"/>
          </a:p>
        </p:txBody>
      </p:sp>
      <p:sp>
        <p:nvSpPr>
          <p:cNvPr id="21" name="Shape 13"/>
          <p:cNvSpPr/>
          <p:nvPr/>
        </p:nvSpPr>
        <p:spPr>
          <a:xfrm>
            <a:off x="640080" y="5349240"/>
            <a:ext cx="411480" cy="411480"/>
          </a:xfrm>
          <a:prstGeom prst="ellipse">
            <a:avLst/>
          </a:prstGeom>
          <a:solidFill>
            <a:srgbClr val="7CB342"/>
          </a:solidFill>
          <a:ln/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5447995"/>
            <a:ext cx="213970" cy="21397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1234440" y="5276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ambos, qualidade é de todos: testar faz parte de cada item.</a:t>
            </a:r>
            <a:endParaRPr lang="en-US" sz="1500" dirty="0"/>
          </a:p>
        </p:txBody>
      </p:sp>
      <p:sp>
        <p:nvSpPr>
          <p:cNvPr id="24" name="Shape 1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25" name="Text 16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1 · Aula 10 — Scrum e Kanban</a:t>
            </a:r>
            <a:endParaRPr lang="en-US" sz="900" dirty="0"/>
          </a:p>
        </p:txBody>
      </p:sp>
      <p:sp>
        <p:nvSpPr>
          <p:cNvPr id="26" name="Text 17"/>
          <p:cNvSpPr/>
          <p:nvPr/>
        </p:nvSpPr>
        <p:spPr>
          <a:xfrm>
            <a:off x="11338560" y="65653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8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31520" cy="73152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5" y="559613"/>
            <a:ext cx="380390" cy="3803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Glossário da aula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1371600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7" name="Text 4"/>
          <p:cNvSpPr/>
          <p:nvPr/>
        </p:nvSpPr>
        <p:spPr>
          <a:xfrm>
            <a:off x="704088" y="1389888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Framework ágil baseado em sprints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2212848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2212848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0" name="Text 7"/>
          <p:cNvSpPr/>
          <p:nvPr/>
        </p:nvSpPr>
        <p:spPr>
          <a:xfrm>
            <a:off x="704088" y="2231136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Ciclo curto de trabalho (1–4 semanas)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" y="3054096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3054096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3072384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(PO)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Define e prioriza o backlog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3895344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3895344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6" name="Text 13"/>
          <p:cNvSpPr/>
          <p:nvPr/>
        </p:nvSpPr>
        <p:spPr>
          <a:xfrm>
            <a:off x="704088" y="3913632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Facilita o processo e remove impedimentos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4736592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4736592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19" name="Text 16"/>
          <p:cNvSpPr/>
          <p:nvPr/>
        </p:nvSpPr>
        <p:spPr>
          <a:xfrm>
            <a:off x="704088" y="4754880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Lista priorizada de itens a fazer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263640" y="1371600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263640" y="1371600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22" name="Text 19"/>
          <p:cNvSpPr/>
          <p:nvPr/>
        </p:nvSpPr>
        <p:spPr>
          <a:xfrm>
            <a:off x="6464808" y="1389888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Incremento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Resultado pronto entregue na sprint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263640" y="2212848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63640" y="2212848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25" name="Text 22"/>
          <p:cNvSpPr/>
          <p:nvPr/>
        </p:nvSpPr>
        <p:spPr>
          <a:xfrm>
            <a:off x="6464808" y="2231136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Reunião diária rápida de sincronização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263640" y="3054096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63640" y="3054096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28" name="Text 25"/>
          <p:cNvSpPr/>
          <p:nvPr/>
        </p:nvSpPr>
        <p:spPr>
          <a:xfrm>
            <a:off x="6464808" y="3072384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Reunião para melhorar o processo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263640" y="3895344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63640" y="3895344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31" name="Text 28"/>
          <p:cNvSpPr/>
          <p:nvPr/>
        </p:nvSpPr>
        <p:spPr>
          <a:xfrm>
            <a:off x="6464808" y="3913632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Método ágil de fluxo contínuo com quadro visual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263640" y="4736592"/>
            <a:ext cx="539496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63640" y="4736592"/>
            <a:ext cx="82296" cy="694944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34" name="Text 31"/>
          <p:cNvSpPr/>
          <p:nvPr/>
        </p:nvSpPr>
        <p:spPr>
          <a:xfrm>
            <a:off x="6464808" y="4754880"/>
            <a:ext cx="5074920" cy="69494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  </a:t>
            </a:r>
            <a:pPr indent="0" marL="0">
              <a:buNone/>
            </a:pPr>
            <a:r>
              <a:rPr lang="en-US" sz="1250" dirty="0">
                <a:solidFill>
                  <a:srgbClr val="1B3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 In Progress — trabalho em andamento (limitado)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36" name="Text 33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1 · Aula 10 — Scrum e Kanban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731520" cy="73152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5" y="559613"/>
            <a:ext cx="380390" cy="3803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8404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40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Referências e para aprofundar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11155680" cy="548640"/>
          </a:xfrm>
          <a:prstGeom prst="roundRect">
            <a:avLst>
              <a:gd name="adj" fmla="val 16667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1371600"/>
            <a:ext cx="82296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389888"/>
            <a:ext cx="10789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BSTQB / ISTQB.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Syllabus Certified Tester Foundation Level (CTFL) v4.0 — versão em português.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2066544"/>
            <a:ext cx="11155680" cy="548640"/>
          </a:xfrm>
          <a:prstGeom prst="roundRect">
            <a:avLst>
              <a:gd name="adj" fmla="val 16667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2066544"/>
            <a:ext cx="82296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084832"/>
            <a:ext cx="10789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ISTQB Glossary.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Glossário oficial de termos de teste — glossary.istqb.org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761488"/>
            <a:ext cx="11155680" cy="548640"/>
          </a:xfrm>
          <a:prstGeom prst="roundRect">
            <a:avLst>
              <a:gd name="adj" fmla="val 16667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761488"/>
            <a:ext cx="82296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79776"/>
            <a:ext cx="10789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Schwaber &amp; Sutherland.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Scrum Guide (scrumguides.org).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3456432"/>
            <a:ext cx="11155680" cy="548640"/>
          </a:xfrm>
          <a:prstGeom prst="roundRect">
            <a:avLst>
              <a:gd name="adj" fmla="val 16667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3456432"/>
            <a:ext cx="82296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" y="3474720"/>
            <a:ext cx="10789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Anderson, D.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Kanban: Successful Evolutionary Change.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4151376"/>
            <a:ext cx="11155680" cy="548640"/>
          </a:xfrm>
          <a:prstGeom prst="roundRect">
            <a:avLst>
              <a:gd name="adj" fmla="val 16667"/>
            </a:avLst>
          </a:prstGeom>
          <a:solidFill>
            <a:srgbClr val="F1F8E9"/>
          </a:solidFill>
          <a:ln w="12700">
            <a:solidFill>
              <a:srgbClr val="D7E8C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4151376"/>
            <a:ext cx="82296" cy="5486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169664"/>
            <a:ext cx="107899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praticar:</a:t>
            </a:r>
            <a:pPr indent="0" marL="0">
              <a:buNone/>
            </a:pPr>
            <a:r>
              <a:rPr lang="en-US" sz="1300" dirty="0">
                <a:solidFill>
                  <a:srgbClr val="556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exemplos aplicados ao nosso app de vagas de freelancer (Floripa / Jaraguá do Sul) nos Módulos 2 e 3.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4401A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6565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Social Garapuvu 2026 · Módulo 1 · Aula 10 — Scrum e Kanban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Scrum e Kanban</dc:title>
  <dc:subject>PptxGenJS Presentation</dc:subject>
  <dc:creator>Douglas Adriano Queiroz</dc:creator>
  <cp:lastModifiedBy>Douglas Adriano Queiroz</cp:lastModifiedBy>
  <cp:revision>1</cp:revision>
  <dcterms:created xsi:type="dcterms:W3CDTF">2026-06-22T12:29:46Z</dcterms:created>
  <dcterms:modified xsi:type="dcterms:W3CDTF">2026-06-22T12:29:46Z</dcterms:modified>
</cp:coreProperties>
</file>
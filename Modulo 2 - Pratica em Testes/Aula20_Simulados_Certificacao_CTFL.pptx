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4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31520"/>
            <a:ext cx="1371600" cy="137160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2144" y="1060704"/>
            <a:ext cx="713232" cy="7132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2860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9CCC6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MÓDULO 2 · AULA 20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22960" y="26974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Aula 20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4754880" y="1828800"/>
            <a:ext cx="6949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Simulados e certificação CTFL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4800600" y="3703320"/>
            <a:ext cx="1371600" cy="7315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0" name="Text 7"/>
          <p:cNvSpPr/>
          <p:nvPr/>
        </p:nvSpPr>
        <p:spPr>
          <a:xfrm>
            <a:off x="4754880" y="3886200"/>
            <a:ext cx="6949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6E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é a prova e como se preparar para passar.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4754880" y="603504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C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Instrutor: Douglas Adriano Queiroz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vamos ver hoje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AULA 20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719072"/>
            <a:ext cx="640080" cy="64008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8291" y="1872691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certificação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04672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o CTFL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22064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8096" y="1719072"/>
            <a:ext cx="640080" cy="640080"/>
          </a:xfrm>
          <a:prstGeom prst="ellipse">
            <a:avLst/>
          </a:prstGeom>
          <a:solidFill>
            <a:srgbClr val="43A04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1715" y="1872691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8096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Formato da prova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578096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Questões, tempo, nota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095488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51520" y="1719072"/>
            <a:ext cx="640080" cy="640080"/>
          </a:xfrm>
          <a:prstGeom prst="ellipse">
            <a:avLst/>
          </a:prstGeom>
          <a:solidFill>
            <a:srgbClr val="EF6C0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5139" y="1872691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1520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Pesos por capítulo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351520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focar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04672" y="3913632"/>
            <a:ext cx="640080" cy="640080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291" y="4067251"/>
            <a:ext cx="332842" cy="33284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04672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Níveis K1-K3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804672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pergunta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322064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578096" y="3913632"/>
            <a:ext cx="640080" cy="64008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1715" y="4067251"/>
            <a:ext cx="332842" cy="33284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78096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Estratégias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578096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Dicas de prova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8095488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351520" y="3913632"/>
            <a:ext cx="640080" cy="6400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5139" y="4067251"/>
            <a:ext cx="332842" cy="33284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51520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Questões-modelo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351520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Treinar agora</a:t>
            </a:r>
            <a:endParaRPr lang="en-US" sz="1200" dirty="0"/>
          </a:p>
        </p:txBody>
      </p:sp>
      <p:sp>
        <p:nvSpPr>
          <p:cNvPr id="34" name="Shape 2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35" name="Text 27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2 · Aula 20 — Simulados e Certificação CTFL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é a certificação CTFL?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CERTIFICAÇÃO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459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a certificação base (Foundation) reconhecida mundialmente para quem trabalha com testes de software.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49834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ISTQB / BSTQB: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padrão internacional; no Brasil, aplicado pela BSTQB.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primeiro nível — fundamentos para qualquer área.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 para todos: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testador, dev, analista, PO — todos se beneficiam.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Diferencial: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comprova que você fala a 'língua' da qualidade.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09360" y="1417320"/>
            <a:ext cx="5349240" cy="2331720"/>
          </a:xfrm>
          <a:prstGeom prst="roundRect">
            <a:avLst>
              <a:gd name="adj" fmla="val 3922"/>
            </a:avLst>
          </a:prstGeom>
          <a:solidFill>
            <a:srgbClr val="FFF3CC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37960" y="1645920"/>
            <a:ext cx="685800" cy="68580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2552" y="1810512"/>
            <a:ext cx="356616" cy="35661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60920" y="161848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5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Analogia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360920" y="2039112"/>
            <a:ext cx="4069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A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a CNH do testador: não te faz piloto de Fórmula 1, mas prova que você conhece as regras e pode dirigir com segurança. É o que muitas vagas pedem como ponto de partida.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309360" y="393192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1F8E9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37960" y="4631436"/>
            <a:ext cx="566928" cy="566928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4023" y="4767499"/>
            <a:ext cx="294803" cy="29480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269480" y="4023360"/>
            <a:ext cx="41605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 daqui:  </a:t>
            </a:r>
            <a:pPr indent="0" marL="0">
              <a:buNone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CTFL é o passaporte de entrada reconhecido no mundo de QA.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17" name="Text 13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2 · Aula 20 — Simulados e Certificação CTFL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Formato da prova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COMO FUNCIONA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719072"/>
            <a:ext cx="640080" cy="64008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8291" y="1872691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40 questões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04672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Múltipla escolha, baseadas no syllabus.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22064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8096" y="1719072"/>
            <a:ext cx="640080" cy="640080"/>
          </a:xfrm>
          <a:prstGeom prst="ellipse">
            <a:avLst/>
          </a:prstGeom>
          <a:solidFill>
            <a:srgbClr val="43A04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1715" y="1872691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8096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Aprovação: 65%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578096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Acertar 26 das 40 questões.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095488" y="148132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51520" y="1719072"/>
            <a:ext cx="640080" cy="640080"/>
          </a:xfrm>
          <a:prstGeom prst="ellipse">
            <a:avLst/>
          </a:prstGeom>
          <a:solidFill>
            <a:srgbClr val="EF6C0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5139" y="1872691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1520" y="244144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60 minutos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351520" y="283464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 min para quem faz em 2ª língua.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04672" y="3913632"/>
            <a:ext cx="640080" cy="640080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291" y="4067251"/>
            <a:ext cx="332842" cy="33284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04672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Baseada no syllabus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804672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cai do conteúdo oficial v4.0.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322064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578096" y="3913632"/>
            <a:ext cx="640080" cy="64008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1715" y="4067251"/>
            <a:ext cx="332842" cy="33284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78096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Online ou presencial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578096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Aplicada por provedores credenciados.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8095488" y="3675888"/>
            <a:ext cx="3544824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351520" y="3913632"/>
            <a:ext cx="640080" cy="6400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5139" y="4067251"/>
            <a:ext cx="332842" cy="33284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51520" y="4636008"/>
            <a:ext cx="3087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Sem consulta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351520" y="5029200"/>
            <a:ext cx="3087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Memória e entendimento dos conceitos.</a:t>
            </a:r>
            <a:endParaRPr lang="en-US" sz="1200" dirty="0"/>
          </a:p>
        </p:txBody>
      </p:sp>
      <p:sp>
        <p:nvSpPr>
          <p:cNvPr id="34" name="Shape 2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35" name="Text 27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2 · Aula 20 — Simulados e Certificação CTFL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Níveis cognitivos (K1, K2, K3)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TIPO DE PERGUNTA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459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syllabus marca cada objetivo com um nível — e a prova cobra de acordo.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49834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K1 — Lembrar: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reconhecer uma definição. Ex.: 'o que é defeito?'.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K2 — Entender: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explicar/comparar. Ex.: 'diferença entre verificação e validação'.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K3 — Aplicar: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uma técnica. Ex.: 'quantos casos por valor-limite aqui?'.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Dica: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K3 (aplicar técnicas) exigem treino com exercícios.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09360" y="1417320"/>
            <a:ext cx="5349240" cy="2331720"/>
          </a:xfrm>
          <a:prstGeom prst="roundRect">
            <a:avLst>
              <a:gd name="adj" fmla="val 3922"/>
            </a:avLst>
          </a:prstGeom>
          <a:solidFill>
            <a:srgbClr val="FFF3CC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37960" y="1645920"/>
            <a:ext cx="685800" cy="68580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2552" y="1810512"/>
            <a:ext cx="356616" cy="35661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60920" y="161848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5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Analogia da casa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360920" y="2039112"/>
            <a:ext cx="4069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A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K1 é saber que existe o freio; K2 é entender como o freio funciona; K3 é frear na curva certa. A prova quer os três.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309360" y="393192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1F8E9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37960" y="4631436"/>
            <a:ext cx="566928" cy="566928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4023" y="4767499"/>
            <a:ext cx="294803" cy="29480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269480" y="4023360"/>
            <a:ext cx="41605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 daqui:  </a:t>
            </a:r>
            <a:pPr indent="0" marL="0">
              <a:buNone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Decorar resolve K1; só praticar resolve as questões K3.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17" name="Text 13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2 · Aula 20 — Simulados e Certificação CTFL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Estratégias para a prova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DICAS PRÁTICAS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5431536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719072"/>
            <a:ext cx="640080" cy="64008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8291" y="1872691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441448"/>
            <a:ext cx="4974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Leia até o fim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04672" y="2834640"/>
            <a:ext cx="49743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Cuidado com 'EXCETO', 'NÃO', 'sempre'. Sublinhe.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08776" y="1481328"/>
            <a:ext cx="5431536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64808" y="1719072"/>
            <a:ext cx="640080" cy="640080"/>
          </a:xfrm>
          <a:prstGeom prst="ellipse">
            <a:avLst/>
          </a:prstGeom>
          <a:solidFill>
            <a:srgbClr val="43A04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8427" y="1872691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464808" y="2441448"/>
            <a:ext cx="4974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Elimine erradas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6464808" y="2834640"/>
            <a:ext cx="49743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Descarte as absurdas e decida entre as 2 restantes.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3675888"/>
            <a:ext cx="5431536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04672" y="3913632"/>
            <a:ext cx="640080" cy="640080"/>
          </a:xfrm>
          <a:prstGeom prst="ellipse">
            <a:avLst/>
          </a:prstGeom>
          <a:solidFill>
            <a:srgbClr val="EF6C0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291" y="4067251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04672" y="4636008"/>
            <a:ext cx="4974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Gerencie o tempo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04672" y="5029200"/>
            <a:ext cx="49743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~1,5 min por questão; marque e volte nas difíceis.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208776" y="3675888"/>
            <a:ext cx="5431536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464808" y="3913632"/>
            <a:ext cx="640080" cy="640080"/>
          </a:xfrm>
          <a:prstGeom prst="ellipse">
            <a:avLst/>
          </a:prstGeom>
          <a:solidFill>
            <a:srgbClr val="1565C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8427" y="4067251"/>
            <a:ext cx="332842" cy="33284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464808" y="4636008"/>
            <a:ext cx="4974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Faça simulados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6464808" y="5029200"/>
            <a:ext cx="49743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Treine com provas-modelo cronometradas.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25" name="Text 19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2 · Aula 20 — Simulados e Certificação CTFL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Questões-modelo para treinar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146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PRATIQUE AGORA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459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Resolva mentalmente antes de ver a resposta: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49834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Qual é um objetivo do teste?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corrigir bugs (b) encontrar defeitos (c) escrever código → Resposta: (b).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Erro, defeito e falha: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comete o erro? → a pessoa (o defeito fica no código; a falha é o comportamento).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Princípio do teste: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'teste exaustivo é...?' → impossível (testamos por risco).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4) Valor-limite em 1–100: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a testar nas bordas → 0,1,2 e 99,100,101.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09360" y="1417320"/>
            <a:ext cx="5349240" cy="2331720"/>
          </a:xfrm>
          <a:prstGeom prst="roundRect">
            <a:avLst>
              <a:gd name="adj" fmla="val 3922"/>
            </a:avLst>
          </a:prstGeom>
          <a:solidFill>
            <a:srgbClr val="FFF3CC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37960" y="1645920"/>
            <a:ext cx="685800" cy="68580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2552" y="1810512"/>
            <a:ext cx="356616" cy="35661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60920" y="161848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52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Plano de estudo sugerido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360920" y="2039112"/>
            <a:ext cx="4069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A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 um capítulo por dia, faça um simulado por semana, anote os erros e refaça. No dia anterior, descanse — cérebro cansado erra questão fácil.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309360" y="393192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1F8E9"/>
          </a:solidFill>
          <a:ln w="12700">
            <a:solidFill>
              <a:srgbClr val="7CB34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37960" y="4631436"/>
            <a:ext cx="566928" cy="566928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4023" y="4767499"/>
            <a:ext cx="294803" cy="29480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269480" y="4023360"/>
            <a:ext cx="41605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 daqui:  </a:t>
            </a:r>
            <a:pPr indent="0" marL="0">
              <a:buNone/>
            </a:pPr>
            <a:r>
              <a:rPr lang="en-US" sz="13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treina simulados cronometrados chega à prova sem surpresas.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17" name="Text 13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2 · Aula 20 — Simulados e Certificação CTFL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4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822960" cy="822960"/>
          </a:xfrm>
          <a:prstGeom prst="ellipse">
            <a:avLst/>
          </a:prstGeom>
          <a:solidFill>
            <a:srgbClr val="F9A825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150" y="700430"/>
            <a:ext cx="427939" cy="42793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54480" y="5029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Resumão da aula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600200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835" y="1698955"/>
            <a:ext cx="213970" cy="21397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34440" y="152704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CTFL é a certificação base de testes, reconhecida mundialmente (BSTQB/ISTQB).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640080" y="2350008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835" y="2448763"/>
            <a:ext cx="213970" cy="21397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34440" y="2276856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Prova: 40 questões, 60 min, aprovação com 65% (26 acertos).</a:t>
            </a:r>
            <a:endParaRPr lang="en-US" sz="1500" dirty="0"/>
          </a:p>
        </p:txBody>
      </p:sp>
      <p:sp>
        <p:nvSpPr>
          <p:cNvPr id="12" name="Shape 7"/>
          <p:cNvSpPr/>
          <p:nvPr/>
        </p:nvSpPr>
        <p:spPr>
          <a:xfrm>
            <a:off x="640080" y="3099816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835" y="3198571"/>
            <a:ext cx="213970" cy="21397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34440" y="3026664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cai do syllabus oficial v4.0 — estude por ele.</a:t>
            </a:r>
            <a:endParaRPr lang="en-US" sz="1500" dirty="0"/>
          </a:p>
        </p:txBody>
      </p:sp>
      <p:sp>
        <p:nvSpPr>
          <p:cNvPr id="15" name="Shape 9"/>
          <p:cNvSpPr/>
          <p:nvPr/>
        </p:nvSpPr>
        <p:spPr>
          <a:xfrm>
            <a:off x="640080" y="3849624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835" y="3948379"/>
            <a:ext cx="213970" cy="21397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234440" y="3776472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Questões têm níveis K1 (lembrar), K2 (entender) e K3 (aplicar).</a:t>
            </a:r>
            <a:endParaRPr lang="en-US" sz="1500" dirty="0"/>
          </a:p>
        </p:txBody>
      </p:sp>
      <p:sp>
        <p:nvSpPr>
          <p:cNvPr id="18" name="Shape 11"/>
          <p:cNvSpPr/>
          <p:nvPr/>
        </p:nvSpPr>
        <p:spPr>
          <a:xfrm>
            <a:off x="640080" y="4599432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8835" y="4698187"/>
            <a:ext cx="213970" cy="21397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234440" y="452628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Estratégia: ler até o fim, eliminar erradas e gerenciar o tempo.</a:t>
            </a:r>
            <a:endParaRPr lang="en-US" sz="1500" dirty="0"/>
          </a:p>
        </p:txBody>
      </p:sp>
      <p:sp>
        <p:nvSpPr>
          <p:cNvPr id="21" name="Shape 13"/>
          <p:cNvSpPr/>
          <p:nvPr/>
        </p:nvSpPr>
        <p:spPr>
          <a:xfrm>
            <a:off x="640080" y="5349240"/>
            <a:ext cx="411480" cy="411480"/>
          </a:xfrm>
          <a:prstGeom prst="ellipse">
            <a:avLst/>
          </a:prstGeom>
          <a:solidFill>
            <a:srgbClr val="7CB342"/>
          </a:solidFill>
          <a:ln/>
        </p:spPr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8835" y="5447995"/>
            <a:ext cx="213970" cy="21397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1234440" y="527608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Faça simulados cronometrados e revise seus erros.</a:t>
            </a:r>
            <a:endParaRPr lang="en-US" sz="1500" dirty="0"/>
          </a:p>
        </p:txBody>
      </p:sp>
      <p:sp>
        <p:nvSpPr>
          <p:cNvPr id="24" name="Shape 1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25" name="Text 16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2 · Aula 20 — Simulados e Certificação CTFL</a:t>
            </a:r>
            <a:endParaRPr lang="en-US" sz="900" dirty="0"/>
          </a:p>
        </p:txBody>
      </p:sp>
      <p:sp>
        <p:nvSpPr>
          <p:cNvPr id="26" name="Text 17"/>
          <p:cNvSpPr/>
          <p:nvPr/>
        </p:nvSpPr>
        <p:spPr>
          <a:xfrm>
            <a:off x="11338560" y="65653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731520" cy="73152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8485" y="559613"/>
            <a:ext cx="380390" cy="3803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84048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Glossário da aula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371600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1371600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7" name="Text 4"/>
          <p:cNvSpPr/>
          <p:nvPr/>
        </p:nvSpPr>
        <p:spPr>
          <a:xfrm>
            <a:off x="704088" y="1389888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CTFL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Certified Tester Foundation Level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02920" y="2212848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02920" y="2212848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0" name="Text 7"/>
          <p:cNvSpPr/>
          <p:nvPr/>
        </p:nvSpPr>
        <p:spPr>
          <a:xfrm>
            <a:off x="704088" y="2231136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ISTQB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International Software Testing Qualifications Board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02920" y="3054096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02920" y="3054096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3" name="Text 10"/>
          <p:cNvSpPr/>
          <p:nvPr/>
        </p:nvSpPr>
        <p:spPr>
          <a:xfrm>
            <a:off x="704088" y="3072384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BSTQB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Brazilian Software Testing Qualifications Board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02920" y="3895344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02920" y="3895344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6" name="Text 13"/>
          <p:cNvSpPr/>
          <p:nvPr/>
        </p:nvSpPr>
        <p:spPr>
          <a:xfrm>
            <a:off x="704088" y="3913632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Syllabus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Documento oficial com todo o conteúdo da prova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502920" y="4736592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02920" y="4736592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19" name="Text 16"/>
          <p:cNvSpPr/>
          <p:nvPr/>
        </p:nvSpPr>
        <p:spPr>
          <a:xfrm>
            <a:off x="704088" y="4754880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K1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Nível cognitivo: lembrar/reconhecer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6263640" y="1371600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263640" y="1371600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22" name="Text 19"/>
          <p:cNvSpPr/>
          <p:nvPr/>
        </p:nvSpPr>
        <p:spPr>
          <a:xfrm>
            <a:off x="6464808" y="1389888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K2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Nível cognitivo: entender/explicar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6263640" y="2212848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263640" y="2212848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25" name="Text 22"/>
          <p:cNvSpPr/>
          <p:nvPr/>
        </p:nvSpPr>
        <p:spPr>
          <a:xfrm>
            <a:off x="6464808" y="2231136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K3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Nível cognitivo: aplicar uma técnica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6263640" y="3054096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263640" y="3054096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28" name="Text 25"/>
          <p:cNvSpPr/>
          <p:nvPr/>
        </p:nvSpPr>
        <p:spPr>
          <a:xfrm>
            <a:off x="6464808" y="3072384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Simulado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Prova de treino parecida com a oficial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6263640" y="3895344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263640" y="3895344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31" name="Text 28"/>
          <p:cNvSpPr/>
          <p:nvPr/>
        </p:nvSpPr>
        <p:spPr>
          <a:xfrm>
            <a:off x="6464808" y="3913632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de aprendizagem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 que o syllabus espera que você saiba</a:t>
            </a:r>
            <a:endParaRPr lang="en-US" sz="1250" dirty="0"/>
          </a:p>
        </p:txBody>
      </p:sp>
      <p:sp>
        <p:nvSpPr>
          <p:cNvPr id="32" name="Shape 29"/>
          <p:cNvSpPr/>
          <p:nvPr/>
        </p:nvSpPr>
        <p:spPr>
          <a:xfrm>
            <a:off x="6263640" y="4736592"/>
            <a:ext cx="539496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263640" y="4736592"/>
            <a:ext cx="82296" cy="69494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34" name="Text 31"/>
          <p:cNvSpPr/>
          <p:nvPr/>
        </p:nvSpPr>
        <p:spPr>
          <a:xfrm>
            <a:off x="6464808" y="4754880"/>
            <a:ext cx="5074920" cy="6949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Provedor credenciado  </a:t>
            </a:r>
            <a:pPr indent="0" marL="0">
              <a:buNone/>
            </a:pPr>
            <a:r>
              <a:rPr lang="en-US" sz="1250" dirty="0">
                <a:solidFill>
                  <a:srgbClr val="1B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Quem aplica a prova oficial</a:t>
            </a:r>
            <a:endParaRPr lang="en-US" sz="1250" dirty="0"/>
          </a:p>
        </p:txBody>
      </p:sp>
      <p:sp>
        <p:nvSpPr>
          <p:cNvPr id="35" name="Shape 3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36" name="Text 33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2 · Aula 20 — Simulados e Certificação CTFL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731520" cy="73152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8485" y="559613"/>
            <a:ext cx="380390" cy="3803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84048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40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Referências e para aprofundar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371600"/>
            <a:ext cx="11155680" cy="548640"/>
          </a:xfrm>
          <a:prstGeom prst="roundRect">
            <a:avLst>
              <a:gd name="adj" fmla="val 16667"/>
            </a:avLst>
          </a:prstGeom>
          <a:solidFill>
            <a:srgbClr val="F1F8E9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1371600"/>
            <a:ext cx="82296" cy="5486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1389888"/>
            <a:ext cx="107899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BSTQB / ISTQB.</a:t>
            </a:r>
            <a:pPr indent="0" marL="0">
              <a:buNone/>
            </a:pPr>
            <a:r>
              <a:rPr lang="en-US" sz="13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Syllabus CTFL v4.0 (PT-BR) e Glossário oficial — glossary.istqb.org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02920" y="2066544"/>
            <a:ext cx="11155680" cy="548640"/>
          </a:xfrm>
          <a:prstGeom prst="roundRect">
            <a:avLst>
              <a:gd name="adj" fmla="val 16667"/>
            </a:avLst>
          </a:prstGeom>
          <a:solidFill>
            <a:srgbClr val="F1F8E9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02920" y="2066544"/>
            <a:ext cx="82296" cy="5486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2084832"/>
            <a:ext cx="107899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BSTQB (bstqb.org.br).</a:t>
            </a:r>
            <a:pPr indent="0" marL="0">
              <a:buNone/>
            </a:pPr>
            <a:r>
              <a:rPr lang="en-US" sz="13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Inscrição, syllabus e exemplos de exame em português.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02920" y="2761488"/>
            <a:ext cx="11155680" cy="548640"/>
          </a:xfrm>
          <a:prstGeom prst="roundRect">
            <a:avLst>
              <a:gd name="adj" fmla="val 16667"/>
            </a:avLst>
          </a:prstGeom>
          <a:solidFill>
            <a:srgbClr val="F1F8E9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02920" y="2761488"/>
            <a:ext cx="82296" cy="5486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2779776"/>
            <a:ext cx="107899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ISTQB (istqb.org).</a:t>
            </a:r>
            <a:pPr indent="0" marL="0">
              <a:buNone/>
            </a:pPr>
            <a:r>
              <a:rPr lang="en-US" sz="13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Sample exams e materiais oficiais.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02920" y="3456432"/>
            <a:ext cx="11155680" cy="548640"/>
          </a:xfrm>
          <a:prstGeom prst="roundRect">
            <a:avLst>
              <a:gd name="adj" fmla="val 16667"/>
            </a:avLst>
          </a:prstGeom>
          <a:solidFill>
            <a:srgbClr val="F1F8E9"/>
          </a:solidFill>
          <a:ln w="12700">
            <a:solidFill>
              <a:srgbClr val="D7E8C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02920" y="3456432"/>
            <a:ext cx="82296" cy="5486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6" name="Text 13"/>
          <p:cNvSpPr/>
          <p:nvPr/>
        </p:nvSpPr>
        <p:spPr>
          <a:xfrm>
            <a:off x="731520" y="3474720"/>
            <a:ext cx="1078992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do curso:</a:t>
            </a:r>
            <a:pPr indent="0" marL="0">
              <a:buNone/>
            </a:pPr>
            <a:r>
              <a:rPr lang="en-US" sz="1300" dirty="0">
                <a:solidFill>
                  <a:srgbClr val="55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app FreelaBairro — vagas de freelancer por bairro em Floripa e Jaraguá do Sul.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4401A"/>
          </a:solidFill>
          <a:ln/>
        </p:spPr>
      </p:sp>
      <p:sp>
        <p:nvSpPr>
          <p:cNvPr id="18" name="Text 15"/>
          <p:cNvSpPr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FE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Social Garapuvu 2026 · Módulo 2 · Aula 20 — Simulados e Certificação CTFL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Simulados e certificação CTFL</dc:title>
  <dc:subject>PptxGenJS Presentation</dc:subject>
  <dc:creator>Douglas Adriano Queiroz</dc:creator>
  <cp:lastModifiedBy>Douglas Adriano Queiroz</cp:lastModifiedBy>
  <cp:revision>1</cp:revision>
  <dcterms:created xsi:type="dcterms:W3CDTF">2026-06-22T12:29:47Z</dcterms:created>
  <dcterms:modified xsi:type="dcterms:W3CDTF">2026-06-22T12:29:47Z</dcterms:modified>
</cp:coreProperties>
</file>